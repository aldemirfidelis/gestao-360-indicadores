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1633"/>
              </a:gs>
              <a:gs pos="100000">
                <a:srgbClr val="142E63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Oval 2"/>
          <p:cNvSpPr/>
          <p:nvPr/>
        </p:nvSpPr>
        <p:spPr>
          <a:xfrm>
            <a:off x="8778240" y="-1097280"/>
            <a:ext cx="4572000" cy="457200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Oval 3"/>
          <p:cNvSpPr/>
          <p:nvPr/>
        </p:nvSpPr>
        <p:spPr>
          <a:xfrm>
            <a:off x="9509760" y="4023360"/>
            <a:ext cx="3840480" cy="384048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Oval 4"/>
          <p:cNvSpPr/>
          <p:nvPr/>
        </p:nvSpPr>
        <p:spPr>
          <a:xfrm>
            <a:off x="8138160" y="1005840"/>
            <a:ext cx="3108960" cy="3108960"/>
          </a:xfrm>
          <a:prstGeom prst="ellipse">
            <a:avLst/>
          </a:prstGeom>
          <a:noFill/>
          <a:ln w="2857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68680" y="822960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800" b="1" noProof="0" dirty="0">
                <a:solidFill>
                  <a:srgbClr val="FFFFFF"/>
                </a:solidFill>
                <a:latin typeface="Segoe UI Semibold"/>
              </a:rPr>
              <a:t>GESTÃO</a:t>
            </a:r>
            <a:r>
              <a:rPr lang="pt-BR" sz="1800" b="1" noProof="0" dirty="0">
                <a:solidFill>
                  <a:srgbClr val="14B8A6"/>
                </a:solidFill>
                <a:latin typeface="Segoe UI Semibold"/>
              </a:rPr>
              <a:t> 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8686800" cy="1546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lang="pt-BR" sz="5200" b="1" noProof="0" dirty="0">
                <a:solidFill>
                  <a:srgbClr val="FFFFFF"/>
                </a:solidFill>
                <a:latin typeface="Segoe UI Semibold"/>
              </a:rPr>
              <a:t>Portal Gestão 360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lang="pt-BR" sz="2100" b="0" noProof="0" dirty="0">
                <a:solidFill>
                  <a:srgbClr val="C7D4E6"/>
                </a:solidFill>
                <a:latin typeface="Segoe UI Light"/>
              </a:rPr>
              <a:t>A plataforma que integra estratégia, qualidade,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lang="pt-BR" sz="2100" b="0" noProof="0" dirty="0">
                <a:solidFill>
                  <a:srgbClr val="C7D4E6"/>
                </a:solidFill>
                <a:latin typeface="Segoe UI Light"/>
              </a:rPr>
              <a:t>pessoas e operação em um único ambiente.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5321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68680" y="5639505"/>
            <a:ext cx="1783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C7D4E6"/>
                </a:solidFill>
                <a:latin typeface="Segoe UI"/>
              </a:rPr>
              <a:t>Gestão a Vista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5532120"/>
            <a:ext cx="1257300" cy="384048"/>
          </a:xfrm>
          <a:prstGeom prst="roundRect">
            <a:avLst>
              <a:gd name="adj" fmla="val 50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2816352" y="5532120"/>
            <a:ext cx="12573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C7D4E6"/>
                </a:solidFill>
                <a:latin typeface="Segoe UI"/>
              </a:rPr>
              <a:t>Qualidade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8244" y="5532120"/>
            <a:ext cx="1257300" cy="384048"/>
          </a:xfrm>
          <a:prstGeom prst="roundRect">
            <a:avLst>
              <a:gd name="adj" fmla="val 50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238244" y="5639505"/>
            <a:ext cx="12573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C7D4E6"/>
                </a:solidFill>
                <a:latin typeface="Segoe UI"/>
              </a:rPr>
              <a:t>Segurança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0136" y="553212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5660136" y="5532120"/>
            <a:ext cx="18882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C7D4E6"/>
                </a:solidFill>
                <a:latin typeface="Segoe UI"/>
              </a:rPr>
              <a:t>Cargos &amp; Premio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2964" y="55321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7712964" y="5532120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C7D4E6"/>
                </a:solidFill>
                <a:latin typeface="Segoe UI"/>
              </a:rPr>
              <a:t>IA integrada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50324" y="5532120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9450324" y="5532120"/>
            <a:ext cx="731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C7D4E6"/>
                </a:solidFill>
                <a:latin typeface="Segoe UI"/>
              </a:rPr>
              <a:t>LGPD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POR QUE GESTAO 360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Uma só plataforma no lugar de dez sistemas soltos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gestão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486400" cy="16981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pt-BR" sz="1500" b="0" noProof="0" dirty="0">
                <a:solidFill>
                  <a:srgbClr val="5B6B82"/>
                </a:solidFill>
                <a:latin typeface="Segoe UI"/>
              </a:rPr>
              <a:t>A gestão corporativa hoje vive fragmentada: planilhas de indicadores, um sistema para qualidade, outro para RH, e-mails para tudo. O resultado são dados desconectados e decisão lenta.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pt-BR" sz="1500" b="1" noProof="0" dirty="0">
                <a:solidFill>
                  <a:srgbClr val="0F1B2E"/>
                </a:solidFill>
                <a:latin typeface="Segoe UI"/>
              </a:rPr>
              <a:t>O Gestão 360 unifica esse ciclo — do indicador ao plano de ação, da politica de qualidade a remuneração variável — com rastreabilidade e governança de ponta a ponta.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267004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3429000"/>
            <a:ext cx="267004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374904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0F1B2E"/>
                </a:solidFill>
                <a:latin typeface="Segoe UI Semibold"/>
              </a:rPr>
              <a:t>Dados dispersos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221284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Indicadores em planilhas, sem farol nem histórico confiável.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429000"/>
            <a:ext cx="267004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3474720" y="3429000"/>
            <a:ext cx="267004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3703320" y="374904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0F1B2E"/>
                </a:solidFill>
                <a:latin typeface="Segoe UI Semibold"/>
              </a:rPr>
              <a:t>Retrabalho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297680"/>
            <a:ext cx="2212848" cy="603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Cada área mantem seu próprio sistema e recadastra as mesmas pessoas.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29000"/>
            <a:ext cx="267004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6309360" y="3429000"/>
            <a:ext cx="267004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537960" y="3749040"/>
            <a:ext cx="22128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0F1B2E"/>
                </a:solidFill>
                <a:latin typeface="Segoe UI Semibold"/>
              </a:rPr>
              <a:t>Baixa governança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297680"/>
            <a:ext cx="2212848" cy="603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Difícil provar conformidade (LGPD, ISO, Lei 14.611) e auditar decisões.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29000"/>
            <a:ext cx="267004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9144000" y="3429000"/>
            <a:ext cx="267004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9372600" y="3749040"/>
            <a:ext cx="22128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0F1B2E"/>
                </a:solidFill>
                <a:latin typeface="Segoe UI Semibold"/>
              </a:rPr>
              <a:t>Decisão lenta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4297680"/>
            <a:ext cx="2212848" cy="396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Reunião de resultado sem base única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07945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A PLATAFORMA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2932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Um ecossistema modular, multiempresa e pronto para escalar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gestão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70048" cy="1828800"/>
          </a:xfrm>
          <a:prstGeom prst="roundRect">
            <a:avLst>
              <a:gd name="adj" fmla="val 7000"/>
            </a:avLst>
          </a:prstGeom>
          <a:gradFill>
            <a:gsLst>
              <a:gs pos="0">
                <a:srgbClr val="102A54"/>
              </a:gs>
              <a:gs pos="100000">
                <a:srgbClr val="0B1E3F"/>
              </a:gs>
            </a:gsLst>
            <a:lin ang="5400000" scaled="1"/>
          </a:gra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22128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400" b="1" noProof="0" dirty="0">
                <a:solidFill>
                  <a:srgbClr val="14B8A6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212848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módulos de negocio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017520"/>
            <a:ext cx="2212848" cy="3273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C7D4E6"/>
                </a:solidFill>
                <a:latin typeface="Segoe UI"/>
              </a:rPr>
              <a:t>cobrindo estratégia, qualidade, pessoas e operação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737360"/>
            <a:ext cx="2670048" cy="1828800"/>
          </a:xfrm>
          <a:prstGeom prst="roundRect">
            <a:avLst>
              <a:gd name="adj" fmla="val 7000"/>
            </a:avLst>
          </a:prstGeom>
          <a:gradFill>
            <a:gsLst>
              <a:gs pos="0">
                <a:srgbClr val="102A54"/>
              </a:gs>
              <a:gs pos="100000">
                <a:srgbClr val="0B1E3F"/>
              </a:gs>
            </a:gsLst>
            <a:lin ang="5400000" scaled="1"/>
          </a:gra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730752" y="1993392"/>
            <a:ext cx="22128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400" b="1" noProof="0" dirty="0">
                <a:solidFill>
                  <a:srgbClr val="14B8A6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69748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planos comerciais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017520"/>
            <a:ext cx="2212848" cy="3273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C7D4E6"/>
                </a:solidFill>
                <a:latin typeface="Segoe UI"/>
              </a:rPr>
              <a:t>do Essencial ao Enterprise, contratação cumulativa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37360"/>
            <a:ext cx="2670048" cy="1828800"/>
          </a:xfrm>
          <a:prstGeom prst="roundRect">
            <a:avLst>
              <a:gd name="adj" fmla="val 7000"/>
            </a:avLst>
          </a:prstGeom>
          <a:gradFill>
            <a:gsLst>
              <a:gs pos="0">
                <a:srgbClr val="102A54"/>
              </a:gs>
              <a:gs pos="100000">
                <a:srgbClr val="0B1E3F"/>
              </a:gs>
            </a:gsLst>
            <a:lin ang="5400000" scaled="1"/>
          </a:gra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565392" y="1993392"/>
            <a:ext cx="22128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400" b="1" noProof="0" dirty="0">
                <a:solidFill>
                  <a:srgbClr val="14B8A6"/>
                </a:solidFill>
                <a:latin typeface="Segoe UI Semibold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69748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web e responsivo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2212848" cy="3273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C7D4E6"/>
                </a:solidFill>
                <a:latin typeface="Segoe UI"/>
              </a:rPr>
              <a:t>acesso por navegador, sem instalação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737360"/>
            <a:ext cx="2670048" cy="1828800"/>
          </a:xfrm>
          <a:prstGeom prst="roundRect">
            <a:avLst>
              <a:gd name="adj" fmla="val 7000"/>
            </a:avLst>
          </a:prstGeom>
          <a:gradFill>
            <a:gsLst>
              <a:gs pos="0">
                <a:srgbClr val="102A54"/>
              </a:gs>
              <a:gs pos="100000">
                <a:srgbClr val="0B1E3F"/>
              </a:gs>
            </a:gsLst>
            <a:lin ang="5400000" scaled="1"/>
          </a:gra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9400032" y="1993392"/>
            <a:ext cx="22128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400" b="1" noProof="0" dirty="0">
                <a:solidFill>
                  <a:srgbClr val="14B8A6"/>
                </a:solidFill>
                <a:latin typeface="Segoe UI Semibold"/>
              </a:rPr>
              <a:t>LGPD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2697480"/>
            <a:ext cx="2212848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e governança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3017520"/>
            <a:ext cx="221284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C7D4E6"/>
                </a:solidFill>
                <a:latin typeface="Segoe UI"/>
              </a:rPr>
              <a:t>trilha de auditoria, RBAC e multiempresa nativa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600" b="1" noProof="0" dirty="0">
                <a:solidFill>
                  <a:srgbClr val="0F1B2E"/>
                </a:solidFill>
                <a:latin typeface="Segoe UI Semibold"/>
              </a:rPr>
              <a:t>Quatro pilares, um ciclo de </a:t>
            </a:r>
            <a:r>
              <a:rPr lang="pt-BR" sz="1600" b="1" noProof="0" dirty="0" err="1">
                <a:solidFill>
                  <a:srgbClr val="0F1B2E"/>
                </a:solidFill>
                <a:latin typeface="Segoe UI Semibold"/>
              </a:rPr>
              <a:t>gestao</a:t>
            </a:r>
            <a:r>
              <a:rPr lang="pt-BR" sz="1600" b="1" noProof="0" dirty="0">
                <a:solidFill>
                  <a:srgbClr val="0F1B2E"/>
                </a:solidFill>
                <a:latin typeface="Segoe UI Semibold"/>
              </a:rPr>
              <a:t> continuo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2670048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5" name="Rectangle 24"/>
          <p:cNvSpPr/>
          <p:nvPr/>
        </p:nvSpPr>
        <p:spPr>
          <a:xfrm>
            <a:off x="640080" y="4480560"/>
            <a:ext cx="100584" cy="16002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4681728"/>
            <a:ext cx="22128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2B5CE6"/>
                </a:solidFill>
                <a:latin typeface="Segoe UI Semibold"/>
              </a:rPr>
              <a:t>Estratégia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74920"/>
            <a:ext cx="2212848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5B6B82"/>
                </a:solidFill>
                <a:latin typeface="Segoe UI"/>
              </a:rPr>
              <a:t>Indicadores, metas, OKR/BSC, painel executivo e reunião de resultados.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4480560"/>
            <a:ext cx="2670048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" name="Rectangle 28"/>
          <p:cNvSpPr/>
          <p:nvPr/>
        </p:nvSpPr>
        <p:spPr>
          <a:xfrm>
            <a:off x="3474720" y="4480560"/>
            <a:ext cx="100584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3749040" y="4681728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14B8A6"/>
                </a:solidFill>
                <a:latin typeface="Segoe UI Semibold"/>
              </a:rPr>
              <a:t>Qualidade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5074920"/>
            <a:ext cx="2212848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5B6B82"/>
                </a:solidFill>
                <a:latin typeface="Segoe UI"/>
              </a:rPr>
              <a:t>Riscos, não conformidades, auditorias, documentos e segurança de alimentos.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480560"/>
            <a:ext cx="2670048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3" name="Rectangle 32"/>
          <p:cNvSpPr/>
          <p:nvPr/>
        </p:nvSpPr>
        <p:spPr>
          <a:xfrm>
            <a:off x="6309360" y="4480560"/>
            <a:ext cx="100584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6583680" y="4681728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59E0B"/>
                </a:solidFill>
                <a:latin typeface="Segoe UI Semibold"/>
              </a:rPr>
              <a:t>Pessoas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074920"/>
            <a:ext cx="2212848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5B6B82"/>
                </a:solidFill>
                <a:latin typeface="Segoe UI"/>
              </a:rPr>
              <a:t>Cargos e salários, equidade (Lei 14.611) e remuneração variável (premio).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480560"/>
            <a:ext cx="2670048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7" name="Rectangle 36"/>
          <p:cNvSpPr/>
          <p:nvPr/>
        </p:nvSpPr>
        <p:spPr>
          <a:xfrm>
            <a:off x="9144000" y="4480560"/>
            <a:ext cx="100584" cy="1600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9418320" y="4681728"/>
            <a:ext cx="22128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16A34A"/>
                </a:solidFill>
                <a:latin typeface="Segoe UI Semibold"/>
              </a:rPr>
              <a:t>Operação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5074920"/>
            <a:ext cx="2212848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00" b="0" noProof="0" dirty="0">
                <a:solidFill>
                  <a:srgbClr val="5B6B82"/>
                </a:solidFill>
                <a:latin typeface="Segoe UI"/>
              </a:rPr>
              <a:t>Segurança patrimonial, tarefas, automações, comunicação e Meu 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ARQUITETURA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Os 10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modulos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 do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Gestao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 360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2121408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Oval 8"/>
          <p:cNvSpPr/>
          <p:nvPr/>
        </p:nvSpPr>
        <p:spPr>
          <a:xfrm>
            <a:off x="822960" y="2039112"/>
            <a:ext cx="384048" cy="3840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22960" y="20391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3288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Meu 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Caixa de entrada corporativa: tudo que exige sua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acao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em um lugar.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931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14B8A6"/>
                </a:solidFill>
                <a:latin typeface="Segoe UI"/>
              </a:rPr>
              <a:t>Incluso em todos os planos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Rectangle 14"/>
          <p:cNvSpPr/>
          <p:nvPr/>
        </p:nvSpPr>
        <p:spPr>
          <a:xfrm>
            <a:off x="2898648" y="1783080"/>
            <a:ext cx="2121408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Oval 15"/>
          <p:cNvSpPr/>
          <p:nvPr/>
        </p:nvSpPr>
        <p:spPr>
          <a:xfrm>
            <a:off x="3081528" y="2039112"/>
            <a:ext cx="384048" cy="3840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3081528" y="20391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253288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Tarefas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10896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de tarefas e demandas com prazos 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responsaveis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63931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14B8A6"/>
                </a:solidFill>
                <a:latin typeface="Segoe UI"/>
              </a:rPr>
              <a:t>Incluso em todos os planos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57216" y="178308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Rectangle 21"/>
          <p:cNvSpPr/>
          <p:nvPr/>
        </p:nvSpPr>
        <p:spPr>
          <a:xfrm>
            <a:off x="5157216" y="1783080"/>
            <a:ext cx="2121408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3" name="Oval 22"/>
          <p:cNvSpPr/>
          <p:nvPr/>
        </p:nvSpPr>
        <p:spPr>
          <a:xfrm>
            <a:off x="5340096" y="2039112"/>
            <a:ext cx="384048" cy="3840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5340096" y="20391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53288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Administracao</a:t>
            </a:r>
            <a:endParaRPr lang="pt-BR" sz="125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340096" y="310896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Usuarios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aprovacoes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periodos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automacoes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relatorios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0096" y="363931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14B8A6"/>
                </a:solidFill>
                <a:latin typeface="Segoe UI"/>
              </a:rPr>
              <a:t>Incluso em todos os planos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4" y="178308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" name="Rectangle 28"/>
          <p:cNvSpPr/>
          <p:nvPr/>
        </p:nvSpPr>
        <p:spPr>
          <a:xfrm>
            <a:off x="7415784" y="1783080"/>
            <a:ext cx="2121408" cy="9144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" name="Oval 29"/>
          <p:cNvSpPr/>
          <p:nvPr/>
        </p:nvSpPr>
        <p:spPr>
          <a:xfrm>
            <a:off x="7598664" y="2039112"/>
            <a:ext cx="384048" cy="384048"/>
          </a:xfrm>
          <a:prstGeom prst="ellipse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1" name="TextBox 30"/>
          <p:cNvSpPr txBox="1"/>
          <p:nvPr/>
        </p:nvSpPr>
        <p:spPr>
          <a:xfrm>
            <a:off x="7598664" y="20391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98664" y="253288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Gestao</a:t>
            </a: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 a Vista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8664" y="310896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Indicadores, metas, farol, painel executivo, desvios 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reuniao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mensal.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98664" y="363931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2B5CE6"/>
                </a:solidFill>
                <a:latin typeface="Segoe UI"/>
              </a:rPr>
              <a:t>A partir do plano Essencial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74352" y="178308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6" name="Rectangle 35"/>
          <p:cNvSpPr/>
          <p:nvPr/>
        </p:nvSpPr>
        <p:spPr>
          <a:xfrm>
            <a:off x="9674352" y="1783080"/>
            <a:ext cx="2121408" cy="9144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7" name="Oval 36"/>
          <p:cNvSpPr/>
          <p:nvPr/>
        </p:nvSpPr>
        <p:spPr>
          <a:xfrm>
            <a:off x="9857232" y="2039112"/>
            <a:ext cx="384048" cy="384048"/>
          </a:xfrm>
          <a:prstGeom prst="ellipse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9857232" y="20391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7232" y="253288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Qualidade e Compliance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7232" y="310896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Riscos 5x5,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nao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conformidades, auditorias, GED e processos.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32" y="363931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2B5CE6"/>
                </a:solidFill>
                <a:latin typeface="Segoe UI"/>
              </a:rPr>
              <a:t>A partir do plano Profissional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114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3" name="Rectangle 42"/>
          <p:cNvSpPr/>
          <p:nvPr/>
        </p:nvSpPr>
        <p:spPr>
          <a:xfrm>
            <a:off x="640080" y="4114800"/>
            <a:ext cx="2121408" cy="9144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4" name="Oval 43"/>
          <p:cNvSpPr/>
          <p:nvPr/>
        </p:nvSpPr>
        <p:spPr>
          <a:xfrm>
            <a:off x="822960" y="4370832"/>
            <a:ext cx="384048" cy="384048"/>
          </a:xfrm>
          <a:prstGeom prst="ellipse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5" name="TextBox 44"/>
          <p:cNvSpPr txBox="1"/>
          <p:nvPr/>
        </p:nvSpPr>
        <p:spPr>
          <a:xfrm>
            <a:off x="822960" y="43708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86460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Comunicacao</a:t>
            </a:r>
            <a:endParaRPr lang="pt-BR" sz="125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2960" y="544068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Chat corporativo, comunicados e mural em abas integradas.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97103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2B5CE6"/>
                </a:solidFill>
                <a:latin typeface="Segoe UI"/>
              </a:rPr>
              <a:t>A partir do plano Profissional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98648" y="4114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0" name="Rectangle 49"/>
          <p:cNvSpPr/>
          <p:nvPr/>
        </p:nvSpPr>
        <p:spPr>
          <a:xfrm>
            <a:off x="2898648" y="4114800"/>
            <a:ext cx="212140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1" name="Oval 50"/>
          <p:cNvSpPr/>
          <p:nvPr/>
        </p:nvSpPr>
        <p:spPr>
          <a:xfrm>
            <a:off x="3081528" y="437083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2" name="TextBox 51"/>
          <p:cNvSpPr txBox="1"/>
          <p:nvPr/>
        </p:nvSpPr>
        <p:spPr>
          <a:xfrm>
            <a:off x="3081528" y="43708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81528" y="486460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Cargos e </a:t>
            </a: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Salarios</a:t>
            </a:r>
            <a:endParaRPr lang="pt-BR" sz="125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081528" y="544068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Estrutura de cargos, tabela salarial,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merito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e equidade (Lei 14.611).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81528" y="597103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F59E0B"/>
                </a:solidFill>
                <a:latin typeface="Segoe UI"/>
              </a:rPr>
              <a:t>A partir do plano Corporativo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57216" y="4114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7" name="Rectangle 56"/>
          <p:cNvSpPr/>
          <p:nvPr/>
        </p:nvSpPr>
        <p:spPr>
          <a:xfrm>
            <a:off x="5157216" y="4114800"/>
            <a:ext cx="212140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8" name="Oval 57"/>
          <p:cNvSpPr/>
          <p:nvPr/>
        </p:nvSpPr>
        <p:spPr>
          <a:xfrm>
            <a:off x="5340096" y="437083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9" name="TextBox 58"/>
          <p:cNvSpPr txBox="1"/>
          <p:nvPr/>
        </p:nvSpPr>
        <p:spPr>
          <a:xfrm>
            <a:off x="5340096" y="43708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40096" y="486460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Seguranca</a:t>
            </a: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 dos Alimentos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0096" y="544068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Fluxos APPCC/HACCP e controles de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seguranca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de alimentos.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0096" y="597103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F59E0B"/>
                </a:solidFill>
                <a:latin typeface="Segoe UI"/>
              </a:rPr>
              <a:t>A partir do plano Corporativo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15784" y="4114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4" name="Rectangle 63"/>
          <p:cNvSpPr/>
          <p:nvPr/>
        </p:nvSpPr>
        <p:spPr>
          <a:xfrm>
            <a:off x="7415784" y="4114800"/>
            <a:ext cx="212140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5" name="Oval 64"/>
          <p:cNvSpPr/>
          <p:nvPr/>
        </p:nvSpPr>
        <p:spPr>
          <a:xfrm>
            <a:off x="7598664" y="437083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6" name="TextBox 65"/>
          <p:cNvSpPr txBox="1"/>
          <p:nvPr/>
        </p:nvSpPr>
        <p:spPr>
          <a:xfrm>
            <a:off x="7598664" y="43708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98664" y="486460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Seguranca</a:t>
            </a: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 Patrimonial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98664" y="544068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Rondas com QR,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autorizacoes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,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ocorrencias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e portaria com modo offline.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98664" y="597103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F59E0B"/>
                </a:solidFill>
                <a:latin typeface="Segoe UI"/>
              </a:rPr>
              <a:t>A partir do plano Corporativo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74352" y="4114800"/>
            <a:ext cx="212140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1" name="Rectangle 70"/>
          <p:cNvSpPr/>
          <p:nvPr/>
        </p:nvSpPr>
        <p:spPr>
          <a:xfrm>
            <a:off x="9674352" y="4114800"/>
            <a:ext cx="2121408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2" name="Oval 71"/>
          <p:cNvSpPr/>
          <p:nvPr/>
        </p:nvSpPr>
        <p:spPr>
          <a:xfrm>
            <a:off x="9857232" y="4370832"/>
            <a:ext cx="384048" cy="38404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3" name="TextBox 72"/>
          <p:cNvSpPr txBox="1"/>
          <p:nvPr/>
        </p:nvSpPr>
        <p:spPr>
          <a:xfrm>
            <a:off x="9857232" y="43708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57232" y="4864608"/>
            <a:ext cx="17556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50" b="1" noProof="0" dirty="0" err="1">
                <a:solidFill>
                  <a:srgbClr val="0F1B2E"/>
                </a:solidFill>
                <a:latin typeface="Segoe UI Semibold"/>
              </a:rPr>
              <a:t>Gestao</a:t>
            </a:r>
            <a:r>
              <a:rPr lang="pt-BR" sz="1250" b="1" noProof="0" dirty="0">
                <a:solidFill>
                  <a:srgbClr val="0F1B2E"/>
                </a:solidFill>
                <a:latin typeface="Segoe UI Semibold"/>
              </a:rPr>
              <a:t> de Premio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57232" y="5440680"/>
            <a:ext cx="175564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Remuneracao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variavel</a:t>
            </a: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 com regras em matriz e motor de calculo calibrado.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57232" y="5971032"/>
            <a:ext cx="17556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16A34A"/>
                </a:solidFill>
                <a:latin typeface="Segoe UI"/>
              </a:rPr>
              <a:t>A partir do plano Enterprise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MODULO 04  · 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Gestao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 a Vista — do indicador a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decisao</a:t>
            </a:r>
            <a:endParaRPr lang="pt-BR" sz="320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2112264"/>
            <a:ext cx="3502152" cy="329184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Indicadores &amp; Metas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KPIs com meta, meta secundaria e faixa de ganho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Farol por atingimento real (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nao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desvio bruto)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Painel Executivo Mensal e Acumulado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Drill-down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por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mes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Visao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360 do indicador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Insights e riscos calculados automaticamente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434340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Rectangle 13"/>
          <p:cNvSpPr/>
          <p:nvPr/>
        </p:nvSpPr>
        <p:spPr>
          <a:xfrm>
            <a:off x="4343400" y="2112264"/>
            <a:ext cx="3502152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57200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Analise &amp; </a:t>
            </a: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Acao</a:t>
            </a:r>
            <a:endParaRPr lang="pt-BR" sz="1400" b="1" noProof="0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9943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Desvios com bloqueio de causa raiz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Ishikawa, PDCA, 5W2H e 5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Porques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Planos de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tratamento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Verificacao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eficacia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Importacao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de dados em lote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804672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Rectangle 18"/>
          <p:cNvSpPr/>
          <p:nvPr/>
        </p:nvSpPr>
        <p:spPr>
          <a:xfrm>
            <a:off x="8046720" y="2112264"/>
            <a:ext cx="3502152" cy="32918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Governanca</a:t>
            </a: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 </a:t>
            </a: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estrategica</a:t>
            </a:r>
            <a:endParaRPr lang="pt-BR" sz="1400" b="1" noProof="0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0275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OKR 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Balanced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Scorecard (BSC)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Organograma e estrutura organizacional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Reuniao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Mensal de Resultados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Workspace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da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reuniao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+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apresentacao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Exports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executivos (PDF/imagem)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MODULOS 05-06  ·  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Qualidade, Compliance e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Comunicacao</a:t>
            </a:r>
            <a:endParaRPr lang="pt-BR" sz="320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2112264"/>
            <a:ext cx="3502152" cy="329184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Qualidade &amp; Risco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Matriz de riscos 5x5 com risco residual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Nao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conformidades (NC)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Checklist que gera NC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automatica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Auditorias internas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Vision 360 da qualidade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434340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Rectangle 13"/>
          <p:cNvSpPr/>
          <p:nvPr/>
        </p:nvSpPr>
        <p:spPr>
          <a:xfrm>
            <a:off x="4343400" y="2112264"/>
            <a:ext cx="3502152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57200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Documentos &amp; Processos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GED com editor DOCX online (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Collabora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Galeria de modelos 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publicacao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em PDF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Versionamento e explorador ECM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Mapeamento de processos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Construtor de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formularios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em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cartoes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04672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804672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Rectangle 18"/>
          <p:cNvSpPr/>
          <p:nvPr/>
        </p:nvSpPr>
        <p:spPr>
          <a:xfrm>
            <a:off x="8046720" y="2112264"/>
            <a:ext cx="3502152" cy="32918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Comunicacao</a:t>
            </a:r>
            <a:endParaRPr lang="pt-BR" sz="1400" b="1" noProof="0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0275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Chat corporativo integrado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Comunicados e avisos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Mural e canais por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area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Sete abas em uma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unica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central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Notificacoes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no Meu Dia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MODULOS 07-09  ·  PESSOAS &amp; OPERACAO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Cargos, Equidade, Premio e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Seguranca</a:t>
            </a:r>
            <a:endParaRPr lang="pt-BR" sz="320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2112264"/>
            <a:ext cx="3502152" cy="3291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Cargos e </a:t>
            </a: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Salarios</a:t>
            </a:r>
            <a:endParaRPr lang="pt-BR" sz="1400" b="1" noProof="0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Estrutura de cargos e tabela salarial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Analises de mercado no cliente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Merito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com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distribuicao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de ratings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Equidade Salarial — Lei 14.611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Relatorio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Transparencia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434340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Rectangle 13"/>
          <p:cNvSpPr/>
          <p:nvPr/>
        </p:nvSpPr>
        <p:spPr>
          <a:xfrm>
            <a:off x="4343400" y="2112264"/>
            <a:ext cx="3502152" cy="32918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57200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Gestao</a:t>
            </a: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 de Premio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Remuneracao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variavel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ponta a ponta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Regras em matriz (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area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x cargo)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Vinculo de indicadores ao premio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Motor de calculo calibrado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Importacao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CSV/XLSX 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validacao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046720" y="1783080"/>
            <a:ext cx="350215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8046720" y="1783080"/>
            <a:ext cx="3502152" cy="658368"/>
          </a:xfrm>
          <a:prstGeom prst="roundRect">
            <a:avLst>
              <a:gd name="adj" fmla="val 4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Rectangle 18"/>
          <p:cNvSpPr/>
          <p:nvPr/>
        </p:nvSpPr>
        <p:spPr>
          <a:xfrm>
            <a:off x="8046720" y="2112264"/>
            <a:ext cx="3502152" cy="32918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30449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Seguranca</a:t>
            </a: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 Patrimonial &amp; Alimentos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651760"/>
            <a:ext cx="299923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Portaria: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autorizacoes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correspondencias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Rondas com planta, pinos e QR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Code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Ocorrencias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turnos, modo offline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Fluxos APPCC/HACCP de alimentos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02A54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Exigencia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documental e auditoria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PLATAFORMA  ·  RECURSOS TRANSVERSAIS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Inteligencia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,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automacao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 e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governanca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 em toda 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57632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576322" cy="658368"/>
          </a:xfrm>
          <a:prstGeom prst="roundRect">
            <a:avLst>
              <a:gd name="adj" fmla="val 4000"/>
            </a:avLst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2112264"/>
            <a:ext cx="2576322" cy="329184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211912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Assistente de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51760"/>
            <a:ext cx="207340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Assistente com IA (Google Gemini)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Conhece o mapa da plataforma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Busca ao vivo no banco com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permissoes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2B5CE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Guias de preenchimento passo a passo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7570" y="1783080"/>
            <a:ext cx="257632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ounded Rectangle 12"/>
          <p:cNvSpPr/>
          <p:nvPr/>
        </p:nvSpPr>
        <p:spPr>
          <a:xfrm>
            <a:off x="3417570" y="1783080"/>
            <a:ext cx="2576322" cy="658368"/>
          </a:xfrm>
          <a:prstGeom prst="roundRect">
            <a:avLst>
              <a:gd name="adj" fmla="val 4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Rectangle 13"/>
          <p:cNvSpPr/>
          <p:nvPr/>
        </p:nvSpPr>
        <p:spPr>
          <a:xfrm>
            <a:off x="3417570" y="2112264"/>
            <a:ext cx="2576322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3646170" y="1783080"/>
            <a:ext cx="211912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Automacoes</a:t>
            </a: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 &amp; Meu 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3602" y="2651760"/>
            <a:ext cx="207340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Central de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Automacoes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workflows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Politicas de SLA e escalonamentos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Meu Dia agrega tudo sem duplicar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Delegacao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visoes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de equipe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1783080"/>
            <a:ext cx="257632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6195060" y="1783080"/>
            <a:ext cx="2576322" cy="658368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Rectangle 18"/>
          <p:cNvSpPr/>
          <p:nvPr/>
        </p:nvSpPr>
        <p:spPr>
          <a:xfrm>
            <a:off x="6195060" y="2112264"/>
            <a:ext cx="2576322" cy="3291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6423660" y="1783080"/>
            <a:ext cx="211912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Multiempresa &amp; Marca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092" y="2651760"/>
            <a:ext cx="207340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Multiempresa nativa (isolamento por empresa)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Multi-tenant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por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subdominio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empresa.gestao360.org com marca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propria</a:t>
            </a:r>
            <a:endParaRPr lang="pt-BR" sz="1200" b="0" noProof="0" dirty="0">
              <a:solidFill>
                <a:srgbClr val="0F1B2E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F59E0B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Troca de empresa ativa (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impersonacao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783080"/>
            <a:ext cx="2576322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3" name="Rounded Rectangle 22"/>
          <p:cNvSpPr/>
          <p:nvPr/>
        </p:nvSpPr>
        <p:spPr>
          <a:xfrm>
            <a:off x="8972550" y="1783080"/>
            <a:ext cx="2576322" cy="658368"/>
          </a:xfrm>
          <a:prstGeom prst="roundRect">
            <a:avLst>
              <a:gd name="adj" fmla="val 4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4" name="Rectangle 23"/>
          <p:cNvSpPr/>
          <p:nvPr/>
        </p:nvSpPr>
        <p:spPr>
          <a:xfrm>
            <a:off x="8972550" y="2112264"/>
            <a:ext cx="2576322" cy="32918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9201150" y="1783080"/>
            <a:ext cx="211912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FFFFFF"/>
                </a:solidFill>
                <a:latin typeface="Segoe UI Semibold"/>
              </a:rPr>
              <a:t>Seguranca</a:t>
            </a:r>
            <a:r>
              <a:rPr lang="pt-BR" sz="1400" b="1" noProof="0" dirty="0">
                <a:solidFill>
                  <a:srgbClr val="FFFFFF"/>
                </a:solidFill>
                <a:latin typeface="Segoe UI Semibold"/>
              </a:rPr>
              <a:t> &amp; LGPD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8582" y="2651760"/>
            <a:ext cx="2073402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RBAC e perfis de acesso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Trilha de auditoria completa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Modulo LGPD: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RoPA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incidentes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lang="pt-BR" sz="1200" b="1" noProof="0" dirty="0">
                <a:solidFill>
                  <a:srgbClr val="16A34A"/>
                </a:solidFill>
                <a:latin typeface="Segoe UI"/>
              </a:rPr>
              <a:t>•  </a:t>
            </a:r>
            <a:r>
              <a:rPr lang="pt-BR" sz="1200" b="0" noProof="0" dirty="0" err="1">
                <a:solidFill>
                  <a:srgbClr val="0F1B2E"/>
                </a:solidFill>
                <a:latin typeface="Segoe UI"/>
              </a:rPr>
              <a:t>Observabilidade</a:t>
            </a:r>
            <a:r>
              <a:rPr lang="pt-BR" sz="1200" b="0" noProof="0" dirty="0">
                <a:solidFill>
                  <a:srgbClr val="0F1B2E"/>
                </a:solidFill>
                <a:latin typeface="Segoe UI"/>
              </a:rPr>
              <a:t> e logs estruturados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1633"/>
              </a:gs>
              <a:gs pos="100000">
                <a:srgbClr val="142E63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Oval 3"/>
          <p:cNvSpPr/>
          <p:nvPr/>
        </p:nvSpPr>
        <p:spPr>
          <a:xfrm>
            <a:off x="8961120" y="1828800"/>
            <a:ext cx="3200400" cy="320040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300" b="1" noProof="0" dirty="0">
                <a:solidFill>
                  <a:srgbClr val="14B8A6"/>
                </a:solidFill>
                <a:latin typeface="Segoe UI"/>
              </a:rPr>
              <a:t>02  /  PARTE COMERCIAL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9601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4600" b="1" noProof="0" dirty="0">
                <a:solidFill>
                  <a:srgbClr val="FFFFFF"/>
                </a:solidFill>
                <a:latin typeface="Segoe UI Semibold"/>
              </a:rPr>
              <a:t>Planos e </a:t>
            </a:r>
            <a:r>
              <a:rPr lang="pt-BR" sz="4600" b="1" noProof="0" dirty="0" err="1">
                <a:solidFill>
                  <a:srgbClr val="FFFFFF"/>
                </a:solidFill>
                <a:latin typeface="Segoe UI Semibold"/>
              </a:rPr>
              <a:t>precos</a:t>
            </a:r>
            <a:endParaRPr lang="pt-BR" sz="4600" b="1" noProof="0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3886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700" b="0" noProof="0" dirty="0" err="1">
                <a:solidFill>
                  <a:srgbClr val="C7D4E6"/>
                </a:solidFill>
                <a:latin typeface="Segoe UI"/>
              </a:rPr>
              <a:t>Contratacao</a:t>
            </a:r>
            <a:r>
              <a:rPr lang="pt-BR" sz="1700" b="0" noProof="0" dirty="0">
                <a:solidFill>
                  <a:srgbClr val="C7D4E6"/>
                </a:solidFill>
                <a:latin typeface="Segoe UI"/>
              </a:rPr>
              <a:t> cumulativa: cada plano soma os </a:t>
            </a:r>
            <a:r>
              <a:rPr lang="pt-BR" sz="1700" b="0" noProof="0" dirty="0" err="1">
                <a:solidFill>
                  <a:srgbClr val="C7D4E6"/>
                </a:solidFill>
                <a:latin typeface="Segoe UI"/>
              </a:rPr>
              <a:t>modulos</a:t>
            </a:r>
            <a:r>
              <a:rPr lang="pt-BR" sz="1700" b="0" noProof="0" dirty="0">
                <a:solidFill>
                  <a:srgbClr val="C7D4E6"/>
                </a:solidFill>
                <a:latin typeface="Segoe UI"/>
              </a:rPr>
              <a:t> do anterior. Valores mensais em reais, sem fidelidade </a:t>
            </a:r>
            <a:r>
              <a:rPr lang="pt-BR" sz="1700" b="0" noProof="0" dirty="0" err="1">
                <a:solidFill>
                  <a:srgbClr val="C7D4E6"/>
                </a:solidFill>
                <a:latin typeface="Segoe UI"/>
              </a:rPr>
              <a:t>obrigatoria</a:t>
            </a:r>
            <a:r>
              <a:rPr lang="pt-BR" sz="1700" b="0" noProof="0" dirty="0">
                <a:solidFill>
                  <a:srgbClr val="C7D4E6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PLANOS COMERCIAIS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Escolha o plano na medida da sua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operacao</a:t>
            </a:r>
            <a:endParaRPr lang="pt-BR" sz="320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2697480" cy="4279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2B5CE6"/>
                </a:solidFill>
                <a:latin typeface="Segoe UI Semibold"/>
              </a:rPr>
              <a:t>Essencial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Para </a:t>
            </a:r>
            <a:r>
              <a:rPr lang="pt-BR" sz="1050" b="0" noProof="0" dirty="0" err="1">
                <a:solidFill>
                  <a:srgbClr val="5B6B82"/>
                </a:solidFill>
                <a:latin typeface="Segoe UI"/>
              </a:rPr>
              <a:t>comecar</a:t>
            </a: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 a gerir por indicadores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700" b="1" noProof="0" dirty="0">
                <a:solidFill>
                  <a:srgbClr val="0F1B2E"/>
                </a:solidFill>
                <a:latin typeface="Segoe UI Semibold"/>
              </a:rPr>
              <a:t>R$ 990</a:t>
            </a: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 /</a:t>
            </a:r>
            <a:r>
              <a:rPr lang="pt-BR" sz="1200" b="0" noProof="0" dirty="0" err="1">
                <a:solidFill>
                  <a:srgbClr val="5B6B82"/>
                </a:solidFill>
                <a:latin typeface="Segoe UI"/>
              </a:rPr>
              <a:t>mes</a:t>
            </a:r>
            <a:endParaRPr lang="pt-BR" sz="120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1" noProof="0" dirty="0">
                <a:solidFill>
                  <a:srgbClr val="2B5CE6"/>
                </a:solidFill>
                <a:latin typeface="Segoe UI"/>
              </a:rPr>
              <a:t>Setup </a:t>
            </a:r>
            <a:r>
              <a:rPr lang="pt-BR" sz="1050" b="1" noProof="0" dirty="0" err="1">
                <a:solidFill>
                  <a:srgbClr val="2B5CE6"/>
                </a:solidFill>
                <a:latin typeface="Segoe UI"/>
              </a:rPr>
              <a:t>gratis</a:t>
            </a:r>
            <a:endParaRPr lang="pt-BR" sz="1050" b="1" noProof="0" dirty="0">
              <a:solidFill>
                <a:srgbClr val="2B5CE6"/>
              </a:solidFill>
              <a:latin typeface="Segoe U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3977640"/>
            <a:ext cx="21488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14400" y="413308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Usuarios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11680" y="413308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21124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Filiais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421124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Armazenamento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70916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10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9719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Suporte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99719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 err="1">
                <a:solidFill>
                  <a:srgbClr val="0F1B2E"/>
                </a:solidFill>
                <a:latin typeface="Segoe UI"/>
              </a:rPr>
              <a:t>Padrao</a:t>
            </a:r>
            <a:endParaRPr lang="pt-BR" sz="950" b="1" noProof="0" dirty="0">
              <a:solidFill>
                <a:srgbClr val="0F1B2E"/>
              </a:solidFill>
              <a:latin typeface="Segoe U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4400" y="528523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285232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Prox. dia </a:t>
            </a:r>
            <a:r>
              <a:rPr lang="pt-BR" sz="950" b="1" noProof="0" dirty="0" err="1">
                <a:solidFill>
                  <a:srgbClr val="0F1B2E"/>
                </a:solidFill>
                <a:latin typeface="Segoe UI"/>
              </a:rPr>
              <a:t>util</a:t>
            </a:r>
            <a:endParaRPr lang="pt-BR" sz="950" b="1" noProof="0" dirty="0">
              <a:solidFill>
                <a:srgbClr val="0F1B2E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" y="557326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Teste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gratis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011680" y="557326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14 dias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3864" y="1481328"/>
            <a:ext cx="2697480" cy="44439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4B8A6"/>
            </a:solidFill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7" name="Rounded Rectangle 26"/>
          <p:cNvSpPr/>
          <p:nvPr/>
        </p:nvSpPr>
        <p:spPr>
          <a:xfrm>
            <a:off x="4764024" y="1481328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4764024" y="1481328"/>
            <a:ext cx="1417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850" b="1" noProof="0" dirty="0">
                <a:solidFill>
                  <a:srgbClr val="FFFFFF"/>
                </a:solidFill>
                <a:latin typeface="Segoe UI"/>
              </a:rPr>
              <a:t>MAIS ESCOLHIDO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83864" y="1481328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3758184" y="1847088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14B8A6"/>
                </a:solidFill>
                <a:latin typeface="Segoe UI Semibold"/>
              </a:rPr>
              <a:t>Profissional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58184" y="2304288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 err="1">
                <a:solidFill>
                  <a:srgbClr val="5B6B82"/>
                </a:solidFill>
                <a:latin typeface="Segoe UI"/>
              </a:rPr>
              <a:t>Estrategia</a:t>
            </a: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 + qualidade + </a:t>
            </a:r>
            <a:r>
              <a:rPr lang="pt-BR" sz="1050" b="0" noProof="0" dirty="0" err="1">
                <a:solidFill>
                  <a:srgbClr val="5B6B82"/>
                </a:solidFill>
                <a:latin typeface="Segoe UI"/>
              </a:rPr>
              <a:t>comunicacao</a:t>
            </a:r>
            <a:endParaRPr lang="pt-BR" sz="10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758184" y="289864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700" b="1" noProof="0" dirty="0">
                <a:solidFill>
                  <a:srgbClr val="0F1B2E"/>
                </a:solidFill>
                <a:latin typeface="Segoe UI Semibold"/>
              </a:rPr>
              <a:t>R$ 2.490</a:t>
            </a: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 /</a:t>
            </a:r>
            <a:r>
              <a:rPr lang="pt-BR" sz="1200" b="0" noProof="0" dirty="0" err="1">
                <a:solidFill>
                  <a:srgbClr val="5B6B82"/>
                </a:solidFill>
                <a:latin typeface="Segoe UI"/>
              </a:rPr>
              <a:t>mes</a:t>
            </a:r>
            <a:endParaRPr lang="pt-BR" sz="120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58184" y="34472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1" noProof="0" dirty="0">
                <a:solidFill>
                  <a:srgbClr val="14B8A6"/>
                </a:solidFill>
                <a:latin typeface="Segoe UI"/>
              </a:rPr>
              <a:t>Setup R$ 2.500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58184" y="3813048"/>
            <a:ext cx="21488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5" name="TextBox 34"/>
          <p:cNvSpPr txBox="1"/>
          <p:nvPr/>
        </p:nvSpPr>
        <p:spPr>
          <a:xfrm>
            <a:off x="3758184" y="396849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Usuarios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55464" y="396849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58184" y="425653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Filiais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5464" y="4256532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58184" y="454456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Armazenamento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5464" y="454456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50 GB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58184" y="4832604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Suporte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5464" y="4832604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 err="1">
                <a:solidFill>
                  <a:srgbClr val="0F1B2E"/>
                </a:solidFill>
                <a:latin typeface="Segoe UI"/>
              </a:rPr>
              <a:t>Prioritario</a:t>
            </a:r>
            <a:endParaRPr lang="pt-BR" sz="950" b="1" noProof="0" dirty="0">
              <a:solidFill>
                <a:srgbClr val="0F1B2E"/>
              </a:solidFill>
              <a:latin typeface="Segoe U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58184" y="512064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5464" y="51206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8h uteis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58184" y="540867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Teste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gratis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855464" y="54086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21 dias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27648" y="1645920"/>
            <a:ext cx="2697480" cy="4279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8" name="Rounded Rectangle 47"/>
          <p:cNvSpPr/>
          <p:nvPr/>
        </p:nvSpPr>
        <p:spPr>
          <a:xfrm>
            <a:off x="6327648" y="16459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9" name="TextBox 48"/>
          <p:cNvSpPr txBox="1"/>
          <p:nvPr/>
        </p:nvSpPr>
        <p:spPr>
          <a:xfrm>
            <a:off x="6601968" y="201168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F59E0B"/>
                </a:solidFill>
                <a:latin typeface="Segoe UI Semibold"/>
              </a:rPr>
              <a:t>Corporativo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1968" y="246888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Pessoas e </a:t>
            </a:r>
            <a:r>
              <a:rPr lang="pt-BR" sz="1050" b="0" noProof="0" dirty="0" err="1">
                <a:solidFill>
                  <a:srgbClr val="5B6B82"/>
                </a:solidFill>
                <a:latin typeface="Segoe UI"/>
              </a:rPr>
              <a:t>seguranca</a:t>
            </a: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 no pacote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306324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700" b="1" noProof="0" dirty="0">
                <a:solidFill>
                  <a:srgbClr val="0F1B2E"/>
                </a:solidFill>
                <a:latin typeface="Segoe UI Semibold"/>
              </a:rPr>
              <a:t>R$ 5.990</a:t>
            </a: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 /</a:t>
            </a:r>
            <a:r>
              <a:rPr lang="pt-BR" sz="1200" b="0" noProof="0" dirty="0" err="1">
                <a:solidFill>
                  <a:srgbClr val="5B6B82"/>
                </a:solidFill>
                <a:latin typeface="Segoe UI"/>
              </a:rPr>
              <a:t>mes</a:t>
            </a:r>
            <a:endParaRPr lang="pt-BR" sz="120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601968" y="361188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1" noProof="0" dirty="0">
                <a:solidFill>
                  <a:srgbClr val="F59E0B"/>
                </a:solidFill>
                <a:latin typeface="Segoe UI"/>
              </a:rPr>
              <a:t>Setup R$ 5.000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01968" y="3977640"/>
            <a:ext cx="21488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4" name="TextBox 53"/>
          <p:cNvSpPr txBox="1"/>
          <p:nvPr/>
        </p:nvSpPr>
        <p:spPr>
          <a:xfrm>
            <a:off x="6601968" y="413308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Usuarios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699248" y="413308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250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01968" y="4421124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Filiais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99248" y="4421124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01968" y="470916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Armazenamento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99248" y="470916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200 GB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1968" y="499719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Suporte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99248" y="499719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Dedicado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01968" y="528523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SLA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99248" y="5285232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4h uteis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01968" y="557326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Teste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gratis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99248" y="557326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30 dias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171432" y="1645920"/>
            <a:ext cx="2697480" cy="4279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7" name="Rounded Rectangle 66"/>
          <p:cNvSpPr/>
          <p:nvPr/>
        </p:nvSpPr>
        <p:spPr>
          <a:xfrm>
            <a:off x="9171432" y="16459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8" name="TextBox 67"/>
          <p:cNvSpPr txBox="1"/>
          <p:nvPr/>
        </p:nvSpPr>
        <p:spPr>
          <a:xfrm>
            <a:off x="9445752" y="201168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16A34A"/>
                </a:solidFill>
                <a:latin typeface="Segoe UI Semibold"/>
              </a:rPr>
              <a:t>Enterprise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45752" y="2468880"/>
            <a:ext cx="2148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Plataforma completa, </a:t>
            </a:r>
            <a:r>
              <a:rPr lang="pt-BR" sz="1050" b="0" noProof="0" dirty="0" err="1">
                <a:solidFill>
                  <a:srgbClr val="5B6B82"/>
                </a:solidFill>
                <a:latin typeface="Segoe UI"/>
              </a:rPr>
              <a:t>incl</a:t>
            </a:r>
            <a:r>
              <a:rPr lang="pt-BR" sz="1050" b="0" noProof="0" dirty="0">
                <a:solidFill>
                  <a:srgbClr val="5B6B82"/>
                </a:solidFill>
                <a:latin typeface="Segoe UI"/>
              </a:rPr>
              <a:t>. Premio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45752" y="306324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700" b="1" noProof="0" dirty="0">
                <a:solidFill>
                  <a:srgbClr val="0F1B2E"/>
                </a:solidFill>
                <a:latin typeface="Segoe UI Semibold"/>
              </a:rPr>
              <a:t>R$ 12.990</a:t>
            </a:r>
            <a:r>
              <a:rPr lang="pt-BR" sz="1200" b="0" noProof="0" dirty="0">
                <a:solidFill>
                  <a:srgbClr val="5B6B82"/>
                </a:solidFill>
                <a:latin typeface="Segoe UI"/>
              </a:rPr>
              <a:t> /</a:t>
            </a:r>
            <a:r>
              <a:rPr lang="pt-BR" sz="1200" b="0" noProof="0" dirty="0" err="1">
                <a:solidFill>
                  <a:srgbClr val="5B6B82"/>
                </a:solidFill>
                <a:latin typeface="Segoe UI"/>
              </a:rPr>
              <a:t>mes</a:t>
            </a:r>
            <a:endParaRPr lang="pt-BR" sz="120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445752" y="3611880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050" b="1" noProof="0" dirty="0">
                <a:solidFill>
                  <a:srgbClr val="16A34A"/>
                </a:solidFill>
                <a:latin typeface="Segoe UI"/>
              </a:rPr>
              <a:t>Setup R$ 10.000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45752" y="3977640"/>
            <a:ext cx="21488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3" name="TextBox 72"/>
          <p:cNvSpPr txBox="1"/>
          <p:nvPr/>
        </p:nvSpPr>
        <p:spPr>
          <a:xfrm>
            <a:off x="9445752" y="413308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Usuarios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0543032" y="413308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Ilimitado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45752" y="4421124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Filiais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43032" y="4421124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Ilimitado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45752" y="470916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Armazenamento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43032" y="470916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Ilimitado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45752" y="499719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Suporte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43032" y="499719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SLA customizado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45752" y="528523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SLA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43032" y="5285232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Contrato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45752" y="557326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0" noProof="0" dirty="0">
                <a:solidFill>
                  <a:srgbClr val="5B6B82"/>
                </a:solidFill>
                <a:latin typeface="Segoe UI"/>
              </a:rPr>
              <a:t>Teste </a:t>
            </a:r>
            <a:r>
              <a:rPr lang="pt-BR" sz="950" b="0" noProof="0" dirty="0" err="1">
                <a:solidFill>
                  <a:srgbClr val="5B6B82"/>
                </a:solidFill>
                <a:latin typeface="Segoe UI"/>
              </a:rPr>
              <a:t>gratis</a:t>
            </a:r>
            <a:endParaRPr lang="pt-BR" sz="950" b="0" noProof="0" dirty="0">
              <a:solidFill>
                <a:srgbClr val="5B6B82"/>
              </a:solidFill>
              <a:latin typeface="Segoe U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0543032" y="557326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50" b="1" noProof="0" dirty="0">
                <a:solidFill>
                  <a:srgbClr val="0F1B2E"/>
                </a:solidFill>
                <a:latin typeface="Segoe UI"/>
              </a:rPr>
              <a:t>30 dias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6089904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Valores de referencia da plataforma. Plano Personalizado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disponivel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sob contrato para necessidades especificas.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COMPARATIVO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Tabela de planos e valores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677663"/>
              </p:ext>
            </p:extLst>
          </p:nvPr>
        </p:nvGraphicFramePr>
        <p:xfrm>
          <a:off x="640080" y="1783080"/>
          <a:ext cx="1090879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2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endParaRPr lang="pt-BR" noProof="0" dirty="0"/>
                    </a:p>
                  </a:txBody>
                  <a:tcPr marL="128016" marT="27432" marB="27432" anchor="ctr">
                    <a:solidFill>
                      <a:srgbClr val="0B1E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Essencial</a:t>
                      </a:r>
                    </a:p>
                  </a:txBody>
                  <a:tcPr marL="128016" marT="27432" marB="27432" anchor="ctr">
                    <a:solidFill>
                      <a:srgbClr val="2B5C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Profissional</a:t>
                      </a:r>
                    </a:p>
                  </a:txBody>
                  <a:tcPr marL="128016" marT="27432" marB="27432" anchor="ctr"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Corporativo</a:t>
                      </a:r>
                    </a:p>
                  </a:txBody>
                  <a:tcPr marL="128016" marT="27432" marB="27432"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Enterprise</a:t>
                      </a:r>
                    </a:p>
                  </a:txBody>
                  <a:tcPr marL="128016" marT="27432" marB="27432" anchor="ctr"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Mensalidade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300" b="1" noProof="0" dirty="0">
                          <a:solidFill>
                            <a:srgbClr val="2B5CE6"/>
                          </a:solidFill>
                          <a:latin typeface="Segoe UI"/>
                        </a:rPr>
                        <a:t>R$ 990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300" b="1" noProof="0" dirty="0">
                          <a:solidFill>
                            <a:srgbClr val="14B8A6"/>
                          </a:solidFill>
                          <a:latin typeface="Segoe UI"/>
                        </a:rPr>
                        <a:t>R$ 2.490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30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R$ 5.990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30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R$ 12.990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Implantacao</a:t>
                      </a:r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(setup)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 err="1">
                          <a:solidFill>
                            <a:srgbClr val="2B5CE6"/>
                          </a:solidFill>
                          <a:latin typeface="Segoe UI"/>
                        </a:rPr>
                        <a:t>Gratis</a:t>
                      </a:r>
                      <a:endParaRPr lang="pt-BR" sz="1200" b="1" noProof="0" dirty="0">
                        <a:solidFill>
                          <a:srgbClr val="2B5CE6"/>
                        </a:solidFill>
                        <a:latin typeface="Segoe UI"/>
                      </a:endParaRP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>
                          <a:solidFill>
                            <a:srgbClr val="14B8A6"/>
                          </a:solidFill>
                          <a:latin typeface="Segoe UI"/>
                        </a:rPr>
                        <a:t>R$ 2.500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R$ 5.000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R$ 10.000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Usuarios</a:t>
                      </a:r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inclusos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250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Ilimitado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Filiais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Ilimitado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Armazenamento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10 GB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50 GB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200 GB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Ilimitado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Nivel</a:t>
                      </a:r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de suporte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Padrao</a:t>
                      </a:r>
                      <a:endParaRPr lang="pt-BR" sz="1200" b="0" noProof="0" dirty="0">
                        <a:solidFill>
                          <a:srgbClr val="0F1B2E"/>
                        </a:solidFill>
                        <a:latin typeface="Segoe UI"/>
                      </a:endParaRP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Prioritario</a:t>
                      </a:r>
                      <a:endParaRPr lang="pt-BR" sz="1200" b="0" noProof="0" dirty="0">
                        <a:solidFill>
                          <a:srgbClr val="0F1B2E"/>
                        </a:solidFill>
                        <a:latin typeface="Segoe UI"/>
                      </a:endParaRP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Dedicado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SLA </a:t>
                      </a:r>
                      <a:r>
                        <a:rPr lang="pt-BR" sz="1200" b="0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custom</a:t>
                      </a:r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.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SLA de atendimento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Prox. dia </a:t>
                      </a:r>
                      <a:r>
                        <a:rPr lang="pt-BR" sz="1200" b="0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util</a:t>
                      </a:r>
                      <a:endParaRPr lang="pt-BR" sz="1200" b="0" noProof="0" dirty="0">
                        <a:solidFill>
                          <a:srgbClr val="0F1B2E"/>
                        </a:solidFill>
                        <a:latin typeface="Segoe UI"/>
                      </a:endParaRP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8h uteis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4h uteis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Contrato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lang="pt-BR" sz="120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Teste gratuito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14 dias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21 dias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30 dias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noProof="0" dirty="0">
                          <a:solidFill>
                            <a:srgbClr val="0F1B2E"/>
                          </a:solidFill>
                          <a:latin typeface="Segoe UI"/>
                        </a:rPr>
                        <a:t>30 dias</a:t>
                      </a:r>
                    </a:p>
                  </a:txBody>
                  <a:tcPr marL="128016" marT="27432" marB="27432"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O QUE CADA PLANO INCLUI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Composicao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 cumulativa dos </a:t>
            </a: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modulos</a:t>
            </a:r>
            <a:endParaRPr lang="pt-BR" sz="3200" b="1" noProof="0" dirty="0">
              <a:solidFill>
                <a:srgbClr val="0F1B2E"/>
              </a:solidFill>
              <a:latin typeface="Segoe UI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071450"/>
              </p:ext>
            </p:extLst>
          </p:nvPr>
        </p:nvGraphicFramePr>
        <p:xfrm>
          <a:off x="640080" y="1783080"/>
          <a:ext cx="1090879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9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7360">
                <a:tc>
                  <a:txBody>
                    <a:bodyPr/>
                    <a:lstStyle/>
                    <a:p>
                      <a:pPr algn="l"/>
                      <a:r>
                        <a:rPr lang="pt-BR" sz="125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Modulo</a:t>
                      </a:r>
                    </a:p>
                  </a:txBody>
                  <a:tcPr marL="128016" anchor="ctr">
                    <a:solidFill>
                      <a:srgbClr val="0B1E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5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Essencial</a:t>
                      </a:r>
                    </a:p>
                  </a:txBody>
                  <a:tcPr marL="128016" anchor="ctr">
                    <a:solidFill>
                      <a:srgbClr val="2B5C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5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Profissional</a:t>
                      </a:r>
                    </a:p>
                  </a:txBody>
                  <a:tcPr marL="128016" anchor="ctr">
                    <a:solidFill>
                      <a:srgbClr val="14B8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5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Corporativo</a:t>
                      </a:r>
                    </a:p>
                  </a:txBody>
                  <a:tcPr marL="128016"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50" b="1" noProof="0" dirty="0">
                          <a:solidFill>
                            <a:srgbClr val="FFFFFF"/>
                          </a:solidFill>
                          <a:latin typeface="Segoe UI Semibold"/>
                        </a:rPr>
                        <a:t>Enterprise</a:t>
                      </a:r>
                    </a:p>
                  </a:txBody>
                  <a:tcPr marL="128016" anchor="ctr"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Meu Dia, Tarefas e </a:t>
                      </a:r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Administracao</a:t>
                      </a:r>
                      <a:endParaRPr lang="pt-BR" sz="1150" b="1" noProof="0" dirty="0">
                        <a:solidFill>
                          <a:srgbClr val="0F1B2E"/>
                        </a:solidFill>
                        <a:latin typeface="Segoe UI"/>
                      </a:endParaRP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2B5CE6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4B8A6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Gestao</a:t>
                      </a:r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a Vista (</a:t>
                      </a:r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estrategia</a:t>
                      </a:r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128016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2B5CE6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4B8A6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Qualidade e Compliance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4B8A6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Comunicacao</a:t>
                      </a:r>
                      <a:endParaRPr lang="pt-BR" sz="1150" b="1" noProof="0" dirty="0">
                        <a:solidFill>
                          <a:srgbClr val="0F1B2E"/>
                        </a:solidFill>
                        <a:latin typeface="Segoe UI"/>
                      </a:endParaRPr>
                    </a:p>
                  </a:txBody>
                  <a:tcPr marL="128016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4B8A6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Cargos e </a:t>
                      </a:r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Salarios</a:t>
                      </a:r>
                      <a:endParaRPr lang="pt-BR" sz="1150" b="1" noProof="0" dirty="0">
                        <a:solidFill>
                          <a:srgbClr val="0F1B2E"/>
                        </a:solidFill>
                        <a:latin typeface="Segoe UI"/>
                      </a:endParaRP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Seguranca</a:t>
                      </a:r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dos Alimentos</a:t>
                      </a:r>
                    </a:p>
                  </a:txBody>
                  <a:tcPr marL="128016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Seguranca</a:t>
                      </a:r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Patrimonial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F59E0B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lang="pt-BR" sz="1150" b="1" noProof="0" dirty="0" err="1">
                          <a:solidFill>
                            <a:srgbClr val="0F1B2E"/>
                          </a:solidFill>
                          <a:latin typeface="Segoe UI"/>
                        </a:rPr>
                        <a:t>Gestao</a:t>
                      </a:r>
                      <a:r>
                        <a:rPr lang="pt-BR" sz="1150" b="1" noProof="0" dirty="0">
                          <a:solidFill>
                            <a:srgbClr val="0F1B2E"/>
                          </a:solidFill>
                          <a:latin typeface="Segoe UI"/>
                        </a:rPr>
                        <a:t> de Premio</a:t>
                      </a:r>
                    </a:p>
                  </a:txBody>
                  <a:tcPr marL="128016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B6C1D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noProof="0" dirty="0">
                          <a:solidFill>
                            <a:srgbClr val="16A34A"/>
                          </a:solidFill>
                          <a:latin typeface="Segoe UI"/>
                        </a:rPr>
                        <a:t>incluso</a:t>
                      </a:r>
                    </a:p>
                  </a:txBody>
                  <a:tcPr anchor="ctr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200" b="1" noProof="0" dirty="0">
                <a:solidFill>
                  <a:srgbClr val="14B8A6"/>
                </a:solidFill>
                <a:latin typeface="Segoe UI"/>
              </a:rPr>
              <a:t>CONFIANCA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3200" b="1" noProof="0" dirty="0" err="1">
                <a:solidFill>
                  <a:srgbClr val="0F1B2E"/>
                </a:solidFill>
                <a:latin typeface="Segoe UI Semibold"/>
              </a:rPr>
              <a:t>Seguranca</a:t>
            </a:r>
            <a:r>
              <a:rPr lang="pt-BR" sz="3200" b="1" noProof="0" dirty="0">
                <a:solidFill>
                  <a:srgbClr val="0F1B2E"/>
                </a:solidFill>
                <a:latin typeface="Segoe UI Semibold"/>
              </a:rPr>
              <a:t>, conformidade e infraestrutura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1" noProof="0" dirty="0">
                <a:solidFill>
                  <a:srgbClr val="2B5CE6"/>
                </a:solidFill>
                <a:latin typeface="Segoe UI"/>
              </a:rPr>
              <a:t>GESTAO 360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Plataforma corporativa de </a:t>
            </a:r>
            <a:r>
              <a:rPr lang="pt-BR" sz="900" b="0" noProof="0" dirty="0" err="1">
                <a:solidFill>
                  <a:srgbClr val="5B6B82"/>
                </a:solidFill>
                <a:latin typeface="Segoe UI"/>
              </a:rPr>
              <a:t>gestao</a:t>
            </a: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   •   gestao360.org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900" b="0" noProof="0" dirty="0">
                <a:solidFill>
                  <a:srgbClr val="5B6B82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0584" cy="192024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Oval 8"/>
          <p:cNvSpPr/>
          <p:nvPr/>
        </p:nvSpPr>
        <p:spPr>
          <a:xfrm>
            <a:off x="914400" y="2057400"/>
            <a:ext cx="365760" cy="365760"/>
          </a:xfrm>
          <a:prstGeom prst="ellipse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07568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 err="1">
                <a:solidFill>
                  <a:srgbClr val="0F1B2E"/>
                </a:solidFill>
                <a:latin typeface="Segoe UI Semibold"/>
              </a:rPr>
              <a:t>Governanca</a:t>
            </a:r>
            <a:r>
              <a:rPr lang="pt-BR" sz="1400" b="1" noProof="0" dirty="0">
                <a:solidFill>
                  <a:srgbClr val="0F1B2E"/>
                </a:solidFill>
                <a:latin typeface="Segoe UI Semibold"/>
              </a:rPr>
              <a:t> de acesso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974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RBAC com perfis,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permissoes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granulares e escopo por empresa, filial e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area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830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Rectangle 13"/>
          <p:cNvSpPr/>
          <p:nvPr/>
        </p:nvSpPr>
        <p:spPr>
          <a:xfrm>
            <a:off x="4334256" y="1783080"/>
            <a:ext cx="100584" cy="1920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Oval 14"/>
          <p:cNvSpPr/>
          <p:nvPr/>
        </p:nvSpPr>
        <p:spPr>
          <a:xfrm>
            <a:off x="4608576" y="2057400"/>
            <a:ext cx="365760" cy="3657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4608576" y="20574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07568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0F1B2E"/>
                </a:solidFill>
                <a:latin typeface="Segoe UI Semibold"/>
              </a:rPr>
              <a:t>Multiempresa 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6974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Isolamento de dados por empresa;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subdominio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e marca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proprios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por cliente.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2" y="17830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0" name="Rectangle 19"/>
          <p:cNvSpPr/>
          <p:nvPr/>
        </p:nvSpPr>
        <p:spPr>
          <a:xfrm>
            <a:off x="8028432" y="1783080"/>
            <a:ext cx="100584" cy="192024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Oval 20"/>
          <p:cNvSpPr/>
          <p:nvPr/>
        </p:nvSpPr>
        <p:spPr>
          <a:xfrm>
            <a:off x="8302752" y="2057400"/>
            <a:ext cx="365760" cy="36576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8302752" y="20574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207568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0F1B2E"/>
                </a:solidFill>
                <a:latin typeface="Segoe UI Semibold"/>
              </a:rPr>
              <a:t>Trilha de auditoria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6974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Registro de quem fez o que e quando, em toda a plataforma.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04488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6" name="Rectangle 25"/>
          <p:cNvSpPr/>
          <p:nvPr/>
        </p:nvSpPr>
        <p:spPr>
          <a:xfrm>
            <a:off x="640080" y="3904488"/>
            <a:ext cx="100584" cy="1920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7" name="Oval 26"/>
          <p:cNvSpPr/>
          <p:nvPr/>
        </p:nvSpPr>
        <p:spPr>
          <a:xfrm>
            <a:off x="914400" y="4178808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914400" y="41788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197096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0F1B2E"/>
                </a:solidFill>
                <a:latin typeface="Segoe UI Semibold"/>
              </a:rPr>
              <a:t>LGPD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18888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Modulo dedicado: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RoPA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,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suboperadores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, incidentes e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area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do DPO.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6" y="3904488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2" name="Rectangle 31"/>
          <p:cNvSpPr/>
          <p:nvPr/>
        </p:nvSpPr>
        <p:spPr>
          <a:xfrm>
            <a:off x="4334256" y="3904488"/>
            <a:ext cx="100584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3" name="Oval 32"/>
          <p:cNvSpPr/>
          <p:nvPr/>
        </p:nvSpPr>
        <p:spPr>
          <a:xfrm>
            <a:off x="4608576" y="4178808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4" name="TextBox 33"/>
          <p:cNvSpPr txBox="1"/>
          <p:nvPr/>
        </p:nvSpPr>
        <p:spPr>
          <a:xfrm>
            <a:off x="4608576" y="41788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8928" y="4197096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0F1B2E"/>
                </a:solidFill>
                <a:latin typeface="Segoe UI Semibold"/>
              </a:rPr>
              <a:t>Infraestrutura gerenciada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8576" y="4818888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PostgreSQL gerenciado, backups, TLS e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observabilidade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com logs estruturados.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3904488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0B1E3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8" name="Rectangle 37"/>
          <p:cNvSpPr/>
          <p:nvPr/>
        </p:nvSpPr>
        <p:spPr>
          <a:xfrm>
            <a:off x="8028432" y="3904488"/>
            <a:ext cx="100584" cy="192024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9" name="Oval 38"/>
          <p:cNvSpPr/>
          <p:nvPr/>
        </p:nvSpPr>
        <p:spPr>
          <a:xfrm>
            <a:off x="8302752" y="4178808"/>
            <a:ext cx="365760" cy="365760"/>
          </a:xfrm>
          <a:prstGeom prst="ellipse">
            <a:avLst/>
          </a:prstGeom>
          <a:solidFill>
            <a:srgbClr val="2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0" name="TextBox 39"/>
          <p:cNvSpPr txBox="1"/>
          <p:nvPr/>
        </p:nvSpPr>
        <p:spPr>
          <a:xfrm>
            <a:off x="8302752" y="41788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33104" y="4197096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0F1B2E"/>
                </a:solidFill>
                <a:latin typeface="Segoe UI Semibold"/>
              </a:rPr>
              <a:t>Disponibilidade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818888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SLA por plano, do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proximo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dia </a:t>
            </a:r>
            <a:r>
              <a:rPr lang="pt-BR" sz="1150" b="0" noProof="0" dirty="0" err="1">
                <a:solidFill>
                  <a:srgbClr val="5B6B82"/>
                </a:solidFill>
                <a:latin typeface="Segoe UI"/>
              </a:rPr>
              <a:t>util</a:t>
            </a:r>
            <a:r>
              <a:rPr lang="pt-BR" sz="1150" b="0" noProof="0" dirty="0">
                <a:solidFill>
                  <a:srgbClr val="5B6B82"/>
                </a:solidFill>
                <a:latin typeface="Segoe UI"/>
              </a:rPr>
              <a:t> ao contrato dedicado Enterprise.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A1633"/>
              </a:gs>
              <a:gs pos="100000">
                <a:srgbClr val="142E63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Oval 3"/>
          <p:cNvSpPr/>
          <p:nvPr/>
        </p:nvSpPr>
        <p:spPr>
          <a:xfrm>
            <a:off x="9326880" y="822960"/>
            <a:ext cx="2560320" cy="2560320"/>
          </a:xfrm>
          <a:prstGeom prst="ellipse">
            <a:avLst/>
          </a:prstGeom>
          <a:noFill/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14B8A6"/>
                </a:solidFill>
                <a:latin typeface="Segoe UI"/>
              </a:rPr>
              <a:t>VAMOS COMECAR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4400" b="1" noProof="0" dirty="0">
                <a:solidFill>
                  <a:srgbClr val="FFFFFF"/>
                </a:solidFill>
                <a:latin typeface="Segoe UI Semibold"/>
              </a:rPr>
              <a:t>Experimente o </a:t>
            </a:r>
            <a:r>
              <a:rPr lang="pt-BR" sz="4400" b="1" noProof="0" dirty="0" err="1">
                <a:solidFill>
                  <a:srgbClr val="FFFFFF"/>
                </a:solidFill>
                <a:latin typeface="Segoe UI Semibold"/>
              </a:rPr>
              <a:t>Gestao</a:t>
            </a:r>
            <a:r>
              <a:rPr lang="pt-BR" sz="4400" b="1" noProof="0" dirty="0">
                <a:solidFill>
                  <a:srgbClr val="FFFFFF"/>
                </a:solidFill>
                <a:latin typeface="Segoe UI Semibold"/>
              </a:rPr>
              <a:t> 360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200" b="0" noProof="0" dirty="0">
                <a:solidFill>
                  <a:srgbClr val="C7D4E6"/>
                </a:solidFill>
                <a:latin typeface="Segoe UI Light"/>
              </a:rPr>
              <a:t>com teste gratuito de ate 30 dias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Oval 7"/>
          <p:cNvSpPr/>
          <p:nvPr/>
        </p:nvSpPr>
        <p:spPr>
          <a:xfrm>
            <a:off x="1143000" y="393192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1143000" y="3931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0B1E3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00507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 Semibold"/>
              </a:rPr>
              <a:t>Diagnostico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590288"/>
            <a:ext cx="2834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C7D4E6"/>
                </a:solidFill>
                <a:latin typeface="Segoe UI"/>
              </a:rPr>
              <a:t>Entendemos sua </a:t>
            </a:r>
            <a:r>
              <a:rPr lang="pt-BR" sz="1150" b="0" noProof="0" dirty="0" err="1">
                <a:solidFill>
                  <a:srgbClr val="C7D4E6"/>
                </a:solidFill>
                <a:latin typeface="Segoe UI"/>
              </a:rPr>
              <a:t>operacao</a:t>
            </a:r>
            <a:r>
              <a:rPr lang="pt-BR" sz="1150" b="0" noProof="0" dirty="0">
                <a:solidFill>
                  <a:srgbClr val="C7D4E6"/>
                </a:solidFill>
                <a:latin typeface="Segoe UI"/>
              </a:rPr>
              <a:t> e os </a:t>
            </a:r>
            <a:r>
              <a:rPr lang="pt-BR" sz="1150" b="0" noProof="0" dirty="0" err="1">
                <a:solidFill>
                  <a:srgbClr val="C7D4E6"/>
                </a:solidFill>
                <a:latin typeface="Segoe UI"/>
              </a:rPr>
              <a:t>modulos</a:t>
            </a:r>
            <a:r>
              <a:rPr lang="pt-BR" sz="1150" b="0" noProof="0" dirty="0">
                <a:solidFill>
                  <a:srgbClr val="C7D4E6"/>
                </a:solidFill>
                <a:latin typeface="Segoe UI"/>
              </a:rPr>
              <a:t> que geram valor primeiro.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5760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Oval 12"/>
          <p:cNvSpPr/>
          <p:nvPr/>
        </p:nvSpPr>
        <p:spPr>
          <a:xfrm>
            <a:off x="4709160" y="393192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709160" y="3931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0B1E3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00507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 err="1">
                <a:solidFill>
                  <a:srgbClr val="FFFFFF"/>
                </a:solidFill>
                <a:latin typeface="Segoe UI Semibold"/>
              </a:rPr>
              <a:t>Ativacao</a:t>
            </a:r>
            <a:r>
              <a:rPr lang="pt-BR" sz="1500" b="1" noProof="0" dirty="0">
                <a:solidFill>
                  <a:srgbClr val="FFFFFF"/>
                </a:solidFill>
                <a:latin typeface="Segoe UI Semibold"/>
              </a:rPr>
              <a:t> guiada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590288"/>
            <a:ext cx="2834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 err="1">
                <a:solidFill>
                  <a:srgbClr val="C7D4E6"/>
                </a:solidFill>
                <a:latin typeface="Segoe UI"/>
              </a:rPr>
              <a:t>Implantacao</a:t>
            </a:r>
            <a:r>
              <a:rPr lang="pt-BR" sz="1150" b="0" noProof="0" dirty="0">
                <a:solidFill>
                  <a:srgbClr val="C7D4E6"/>
                </a:solidFill>
                <a:latin typeface="Segoe UI"/>
              </a:rPr>
              <a:t> com dados reais e treinamento das equipes.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65760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 w="9525">
            <a:solidFill>
              <a:srgbClr val="2A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Oval 17"/>
          <p:cNvSpPr/>
          <p:nvPr/>
        </p:nvSpPr>
        <p:spPr>
          <a:xfrm>
            <a:off x="8275320" y="393192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8275320" y="3931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2000" b="1" noProof="0" dirty="0">
                <a:solidFill>
                  <a:srgbClr val="0B1E3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400507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500" b="1" noProof="0" dirty="0">
                <a:solidFill>
                  <a:srgbClr val="FFFFFF"/>
                </a:solidFill>
                <a:latin typeface="Segoe UI Semibold"/>
              </a:rPr>
              <a:t>Escala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4590288"/>
            <a:ext cx="2834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150" b="0" noProof="0" dirty="0">
                <a:solidFill>
                  <a:srgbClr val="C7D4E6"/>
                </a:solidFill>
                <a:latin typeface="Segoe UI"/>
              </a:rPr>
              <a:t>Evolua de plano conforme novas </a:t>
            </a:r>
            <a:r>
              <a:rPr lang="pt-BR" sz="1150" b="0" noProof="0" dirty="0" err="1">
                <a:solidFill>
                  <a:srgbClr val="C7D4E6"/>
                </a:solidFill>
                <a:latin typeface="Segoe UI"/>
              </a:rPr>
              <a:t>areas</a:t>
            </a:r>
            <a:r>
              <a:rPr lang="pt-BR" sz="1150" b="0" noProof="0" dirty="0">
                <a:solidFill>
                  <a:srgbClr val="C7D4E6"/>
                </a:solidFill>
                <a:latin typeface="Segoe UI"/>
              </a:rPr>
              <a:t> entram na plataforma.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806440"/>
            <a:ext cx="10424160" cy="64008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868680" y="580644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pt-BR" sz="1400" b="1" noProof="0" dirty="0">
                <a:solidFill>
                  <a:srgbClr val="0B1E3F"/>
                </a:solidFill>
                <a:latin typeface="Segoe UI"/>
              </a:rPr>
              <a:t>GESTAO 360</a:t>
            </a:r>
            <a:r>
              <a:rPr lang="pt-BR" sz="1300" b="1" noProof="0" dirty="0">
                <a:solidFill>
                  <a:srgbClr val="0B1E3F"/>
                </a:solidFill>
                <a:latin typeface="Segoe UI"/>
              </a:rPr>
              <a:t>      gestao360.org      ·      contato@gestao360.org      ·      Solicite uma </a:t>
            </a:r>
            <a:r>
              <a:rPr lang="pt-BR" sz="1300" b="1" noProof="0" dirty="0" err="1">
                <a:solidFill>
                  <a:srgbClr val="0B1E3F"/>
                </a:solidFill>
                <a:latin typeface="Segoe UI"/>
              </a:rPr>
              <a:t>demonstracao</a:t>
            </a:r>
            <a:endParaRPr lang="pt-BR" sz="1300" b="1" noProof="0" dirty="0">
              <a:solidFill>
                <a:srgbClr val="0B1E3F"/>
              </a:solidFill>
              <a:latin typeface="Segoe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1613</Words>
  <Application>Microsoft Office PowerPoint</Application>
  <PresentationFormat>Widescreen</PresentationFormat>
  <Paragraphs>388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Arial</vt:lpstr>
      <vt:lpstr>Calibri</vt:lpstr>
      <vt:lpstr>Segoe UI</vt:lpstr>
      <vt:lpstr>Segoe UI Light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Aldemir Fidelis</cp:lastModifiedBy>
  <cp:revision>2</cp:revision>
  <dcterms:created xsi:type="dcterms:W3CDTF">2013-01-27T09:14:16Z</dcterms:created>
  <dcterms:modified xsi:type="dcterms:W3CDTF">2026-07-07T23:38:11Z</dcterms:modified>
  <cp:category/>
</cp:coreProperties>
</file>