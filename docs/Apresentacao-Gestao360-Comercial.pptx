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1633"/>
              </a:gs>
              <a:gs pos="100000">
                <a:srgbClr val="142E63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Oval 2"/>
          <p:cNvSpPr/>
          <p:nvPr/>
        </p:nvSpPr>
        <p:spPr>
          <a:xfrm>
            <a:off x="8778240" y="-1097280"/>
            <a:ext cx="4572000" cy="4572000"/>
          </a:xfrm>
          <a:prstGeom prst="ellipse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Oval 3"/>
          <p:cNvSpPr/>
          <p:nvPr/>
        </p:nvSpPr>
        <p:spPr>
          <a:xfrm>
            <a:off x="9509760" y="4023360"/>
            <a:ext cx="3840480" cy="3840480"/>
          </a:xfrm>
          <a:prstGeom prst="ellipse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Oval 4"/>
          <p:cNvSpPr/>
          <p:nvPr/>
        </p:nvSpPr>
        <p:spPr>
          <a:xfrm>
            <a:off x="8138160" y="1005840"/>
            <a:ext cx="3108960" cy="3108960"/>
          </a:xfrm>
          <a:prstGeom prst="ellipse">
            <a:avLst/>
          </a:prstGeom>
          <a:noFill/>
          <a:ln w="28575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68680" y="822960"/>
            <a:ext cx="5486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800" b="1" noProof="0" dirty="0">
                <a:solidFill>
                  <a:srgbClr val="FFFFFF"/>
                </a:solidFill>
                <a:latin typeface="Segoe UI Semibold"/>
              </a:rPr>
              <a:t>GESTÃO</a:t>
            </a:r>
            <a:r>
              <a:rPr lang="pt-BR" sz="1800" b="1" noProof="0" dirty="0">
                <a:solidFill>
                  <a:srgbClr val="14B8A6"/>
                </a:solidFill>
                <a:latin typeface="Segoe UI Semibold"/>
              </a:rPr>
              <a:t> 360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8686800" cy="1546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pt-BR" sz="5200" b="1" noProof="0" dirty="0">
                <a:solidFill>
                  <a:srgbClr val="FFFFFF"/>
                </a:solidFill>
                <a:latin typeface="Segoe UI Semibold"/>
              </a:rPr>
              <a:t>Portal Gestão 360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pt-BR" sz="2100" b="0" noProof="0" dirty="0">
                <a:solidFill>
                  <a:srgbClr val="C7D4E6"/>
                </a:solidFill>
                <a:latin typeface="Segoe UI Light"/>
              </a:rPr>
              <a:t>A plataforma que integra estratégia, qualidade,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lang="pt-BR" sz="2100" b="0" noProof="0" dirty="0">
                <a:solidFill>
                  <a:srgbClr val="C7D4E6"/>
                </a:solidFill>
                <a:latin typeface="Segoe UI Light"/>
              </a:rPr>
              <a:t>pessoas e operação em um único ambiente.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53212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02A54"/>
          </a:solidFill>
          <a:ln w="9525">
            <a:solidFill>
              <a:srgbClr val="2A4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868680" y="5639505"/>
            <a:ext cx="178308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00" b="0" noProof="0" dirty="0">
                <a:solidFill>
                  <a:srgbClr val="C7D4E6"/>
                </a:solidFill>
                <a:latin typeface="Segoe UI"/>
              </a:rPr>
              <a:t>Gestão a Vista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5532120"/>
            <a:ext cx="1257300" cy="384048"/>
          </a:xfrm>
          <a:prstGeom prst="roundRect">
            <a:avLst>
              <a:gd name="adj" fmla="val 50000"/>
            </a:avLst>
          </a:prstGeom>
          <a:solidFill>
            <a:srgbClr val="102A54"/>
          </a:solidFill>
          <a:ln w="9525">
            <a:solidFill>
              <a:srgbClr val="2A4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2816352" y="5532120"/>
            <a:ext cx="12573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00" b="0" noProof="0" dirty="0">
                <a:solidFill>
                  <a:srgbClr val="C7D4E6"/>
                </a:solidFill>
                <a:latin typeface="Segoe UI"/>
              </a:rPr>
              <a:t>Qualidade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8244" y="5532120"/>
            <a:ext cx="1257300" cy="384048"/>
          </a:xfrm>
          <a:prstGeom prst="roundRect">
            <a:avLst>
              <a:gd name="adj" fmla="val 50000"/>
            </a:avLst>
          </a:prstGeom>
          <a:solidFill>
            <a:srgbClr val="102A54"/>
          </a:solidFill>
          <a:ln w="9525">
            <a:solidFill>
              <a:srgbClr val="2A4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4238244" y="5639505"/>
            <a:ext cx="12573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00" b="0" noProof="0" dirty="0">
                <a:solidFill>
                  <a:srgbClr val="C7D4E6"/>
                </a:solidFill>
                <a:latin typeface="Segoe UI"/>
              </a:rPr>
              <a:t>Segurança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0136" y="5532120"/>
            <a:ext cx="1888236" cy="384048"/>
          </a:xfrm>
          <a:prstGeom prst="roundRect">
            <a:avLst>
              <a:gd name="adj" fmla="val 50000"/>
            </a:avLst>
          </a:prstGeom>
          <a:solidFill>
            <a:srgbClr val="102A54"/>
          </a:solidFill>
          <a:ln w="9525">
            <a:solidFill>
              <a:srgbClr val="2A4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5660136" y="5532120"/>
            <a:ext cx="18882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00" b="0" noProof="0" dirty="0">
                <a:solidFill>
                  <a:srgbClr val="C7D4E6"/>
                </a:solidFill>
                <a:latin typeface="Segoe UI"/>
              </a:rPr>
              <a:t>Cargos &amp; Premio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2964" y="553212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02A54"/>
          </a:solidFill>
          <a:ln w="9525">
            <a:solidFill>
              <a:srgbClr val="2A4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7712964" y="5532120"/>
            <a:ext cx="15727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00" b="0" noProof="0" dirty="0">
                <a:solidFill>
                  <a:srgbClr val="C7D4E6"/>
                </a:solidFill>
                <a:latin typeface="Segoe UI"/>
              </a:rPr>
              <a:t>IA integrada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50324" y="5532120"/>
            <a:ext cx="731520" cy="384048"/>
          </a:xfrm>
          <a:prstGeom prst="roundRect">
            <a:avLst>
              <a:gd name="adj" fmla="val 50000"/>
            </a:avLst>
          </a:prstGeom>
          <a:solidFill>
            <a:srgbClr val="102A54"/>
          </a:solidFill>
          <a:ln w="9525">
            <a:solidFill>
              <a:srgbClr val="2A4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9450324" y="5532120"/>
            <a:ext cx="731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00" b="0" noProof="0" dirty="0">
                <a:solidFill>
                  <a:srgbClr val="C7D4E6"/>
                </a:solidFill>
                <a:latin typeface="Segoe UI"/>
              </a:rPr>
              <a:t>LGPD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POR QUE GESTAO 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200" b="1" noProof="0" dirty="0">
                <a:solidFill>
                  <a:srgbClr val="0F1B2E"/>
                </a:solidFill>
                <a:latin typeface="Segoe UI Semibold"/>
              </a:rPr>
              <a:t>Uma só plataforma no lugar de dez sistemas soltos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00" b="0" noProof="0" dirty="0">
                <a:solidFill>
                  <a:srgbClr val="5B6B82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486400" cy="16981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pt-BR" sz="1500" b="0" noProof="0" dirty="0">
                <a:solidFill>
                  <a:srgbClr val="5B6B82"/>
                </a:solidFill>
                <a:latin typeface="Segoe UI"/>
              </a:rPr>
              <a:t>A gestão corporativa hoje vive fragmentada: planilhas de indicadores, um sistema para qualidade, outro para RH, e-mails para tudo. O resultado são dados desconectados e decisão lenta.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pt-BR" sz="1500" b="1" noProof="0" dirty="0">
                <a:solidFill>
                  <a:srgbClr val="0F1B2E"/>
                </a:solidFill>
                <a:latin typeface="Segoe UI"/>
              </a:rPr>
              <a:t>O Gestão 360 unifica esse ciclo — do indicador ao plano de ação, da politica de qualidade a remuneração variável — com rastreabilidade e governança de ponta a ponta.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70398"/>
            <a:ext cx="267004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640080" y="3570398"/>
            <a:ext cx="2670048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68680" y="3890438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noProof="0" dirty="0">
                <a:solidFill>
                  <a:srgbClr val="0F1B2E"/>
                </a:solidFill>
                <a:latin typeface="Segoe UI Semibold"/>
              </a:rPr>
              <a:t>Dados dispersos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39078"/>
            <a:ext cx="2212848" cy="396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0" noProof="0" dirty="0">
                <a:solidFill>
                  <a:srgbClr val="5B6B82"/>
                </a:solidFill>
                <a:latin typeface="Segoe UI"/>
              </a:rPr>
              <a:t>Indicadores em planilhas, sem farol nem histórico confiável.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570398"/>
            <a:ext cx="267004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ctangle 12"/>
          <p:cNvSpPr/>
          <p:nvPr/>
        </p:nvSpPr>
        <p:spPr>
          <a:xfrm>
            <a:off x="3474720" y="3570398"/>
            <a:ext cx="2670048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3703320" y="3890438"/>
            <a:ext cx="22128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noProof="0" dirty="0">
                <a:solidFill>
                  <a:srgbClr val="0F1B2E"/>
                </a:solidFill>
                <a:latin typeface="Segoe UI Semibold"/>
              </a:rPr>
              <a:t>Retrabalho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439078"/>
            <a:ext cx="2212848" cy="603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0" noProof="0" dirty="0">
                <a:solidFill>
                  <a:srgbClr val="5B6B82"/>
                </a:solidFill>
                <a:latin typeface="Segoe UI"/>
              </a:rPr>
              <a:t>Cada área mantem seu próprio sistema e recadastra as mesmas pessoas.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570398"/>
            <a:ext cx="267004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309360" y="3570398"/>
            <a:ext cx="2670048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6537960" y="3890438"/>
            <a:ext cx="22128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noProof="0" dirty="0">
                <a:solidFill>
                  <a:srgbClr val="0F1B2E"/>
                </a:solidFill>
                <a:latin typeface="Segoe UI Semibold"/>
              </a:rPr>
              <a:t>Baixa governança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439078"/>
            <a:ext cx="2212848" cy="603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0" noProof="0" dirty="0">
                <a:solidFill>
                  <a:srgbClr val="5B6B82"/>
                </a:solidFill>
                <a:latin typeface="Segoe UI"/>
              </a:rPr>
              <a:t>Difícil provar conformidade (LGPD, ISO, Lei 14.611) e auditar decisões.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570398"/>
            <a:ext cx="267004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Rectangle 20"/>
          <p:cNvSpPr/>
          <p:nvPr/>
        </p:nvSpPr>
        <p:spPr>
          <a:xfrm>
            <a:off x="9144000" y="3570398"/>
            <a:ext cx="2670048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9372600" y="3890438"/>
            <a:ext cx="22128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noProof="0" dirty="0">
                <a:solidFill>
                  <a:srgbClr val="0F1B2E"/>
                </a:solidFill>
                <a:latin typeface="Segoe UI Semibold"/>
              </a:rPr>
              <a:t>Decisão lenta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439078"/>
            <a:ext cx="2212848" cy="396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0" noProof="0" dirty="0">
                <a:solidFill>
                  <a:srgbClr val="5B6B82"/>
                </a:solidFill>
                <a:latin typeface="Segoe UI"/>
              </a:rPr>
              <a:t>Reunião de resultado sem base única de verdade.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407945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72932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200" b="1" noProof="0" dirty="0">
                <a:solidFill>
                  <a:srgbClr val="0F1B2E"/>
                </a:solidFill>
                <a:latin typeface="Segoe UI Semibold"/>
              </a:rPr>
              <a:t>Um ecossistema modular, multiempresa e pronto para escalar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00" b="0" noProof="0" dirty="0">
                <a:solidFill>
                  <a:srgbClr val="5B6B82"/>
                </a:solidFill>
                <a:latin typeface="Segoe U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670048" cy="1828800"/>
          </a:xfrm>
          <a:prstGeom prst="roundRect">
            <a:avLst>
              <a:gd name="adj" fmla="val 7000"/>
            </a:avLst>
          </a:prstGeom>
          <a:gradFill>
            <a:gsLst>
              <a:gs pos="0">
                <a:srgbClr val="102A54"/>
              </a:gs>
              <a:gs pos="100000">
                <a:srgbClr val="0B1E3F"/>
              </a:gs>
            </a:gsLst>
            <a:lin ang="5400000" scaled="1"/>
          </a:gra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22128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400" b="1" noProof="0" dirty="0">
                <a:solidFill>
                  <a:srgbClr val="14B8A6"/>
                </a:solidFill>
                <a:latin typeface="Segoe UI Semibold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97480"/>
            <a:ext cx="221284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300" b="1" noProof="0" dirty="0">
                <a:solidFill>
                  <a:srgbClr val="FFFFFF"/>
                </a:solidFill>
                <a:latin typeface="Segoe UI"/>
              </a:rPr>
              <a:t>módulos de negocio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017520"/>
            <a:ext cx="2212848" cy="3273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050" b="0" noProof="0" dirty="0">
                <a:solidFill>
                  <a:srgbClr val="C7D4E6"/>
                </a:solidFill>
                <a:latin typeface="Segoe UI"/>
              </a:rPr>
              <a:t>cobrindo estratégia, qualidade, pessoas e operação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737360"/>
            <a:ext cx="2670048" cy="1828800"/>
          </a:xfrm>
          <a:prstGeom prst="roundRect">
            <a:avLst>
              <a:gd name="adj" fmla="val 7000"/>
            </a:avLst>
          </a:prstGeom>
          <a:gradFill>
            <a:gsLst>
              <a:gs pos="0">
                <a:srgbClr val="102A54"/>
              </a:gs>
              <a:gs pos="100000">
                <a:srgbClr val="0B1E3F"/>
              </a:gs>
            </a:gsLst>
            <a:lin ang="5400000" scaled="1"/>
          </a:gra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3730752" y="1993392"/>
            <a:ext cx="22128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400" b="1" noProof="0" dirty="0">
                <a:solidFill>
                  <a:srgbClr val="14B8A6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69748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300" b="1" noProof="0" dirty="0">
                <a:solidFill>
                  <a:srgbClr val="FFFFFF"/>
                </a:solidFill>
                <a:latin typeface="Segoe UI"/>
              </a:rPr>
              <a:t>planos comerciais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017520"/>
            <a:ext cx="2212848" cy="3273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050" b="0" noProof="0" dirty="0">
                <a:solidFill>
                  <a:srgbClr val="C7D4E6"/>
                </a:solidFill>
                <a:latin typeface="Segoe UI"/>
              </a:rPr>
              <a:t>do Essencial ao Enterprise, contratação cumulativa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737360"/>
            <a:ext cx="2670048" cy="1828800"/>
          </a:xfrm>
          <a:prstGeom prst="roundRect">
            <a:avLst>
              <a:gd name="adj" fmla="val 7000"/>
            </a:avLst>
          </a:prstGeom>
          <a:gradFill>
            <a:gsLst>
              <a:gs pos="0">
                <a:srgbClr val="102A54"/>
              </a:gs>
              <a:gs pos="100000">
                <a:srgbClr val="0B1E3F"/>
              </a:gs>
            </a:gsLst>
            <a:lin ang="5400000" scaled="1"/>
          </a:gra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565392" y="1993392"/>
            <a:ext cx="22128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400" b="1" noProof="0" dirty="0">
                <a:solidFill>
                  <a:srgbClr val="14B8A6"/>
                </a:solidFill>
                <a:latin typeface="Segoe UI Semibold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69748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300" b="1" noProof="0" dirty="0">
                <a:solidFill>
                  <a:srgbClr val="FFFFFF"/>
                </a:solidFill>
                <a:latin typeface="Segoe UI"/>
              </a:rPr>
              <a:t>web e responsivo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017520"/>
            <a:ext cx="2212848" cy="3273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050" b="0" noProof="0" dirty="0">
                <a:solidFill>
                  <a:srgbClr val="C7D4E6"/>
                </a:solidFill>
                <a:latin typeface="Segoe UI"/>
              </a:rPr>
              <a:t>acesso por navegador, sem instalação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737360"/>
            <a:ext cx="2670048" cy="1828800"/>
          </a:xfrm>
          <a:prstGeom prst="roundRect">
            <a:avLst>
              <a:gd name="adj" fmla="val 7000"/>
            </a:avLst>
          </a:prstGeom>
          <a:gradFill>
            <a:gsLst>
              <a:gs pos="0">
                <a:srgbClr val="102A54"/>
              </a:gs>
              <a:gs pos="100000">
                <a:srgbClr val="0B1E3F"/>
              </a:gs>
            </a:gsLst>
            <a:lin ang="5400000" scaled="1"/>
          </a:gra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9400032" y="1993392"/>
            <a:ext cx="22128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400" b="1" noProof="0" dirty="0">
                <a:solidFill>
                  <a:srgbClr val="14B8A6"/>
                </a:solidFill>
                <a:latin typeface="Segoe UI Semibold"/>
              </a:rPr>
              <a:t>LGPD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2697480"/>
            <a:ext cx="221284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300" b="1" noProof="0" dirty="0">
                <a:solidFill>
                  <a:srgbClr val="FFFFFF"/>
                </a:solidFill>
                <a:latin typeface="Segoe UI"/>
              </a:rPr>
              <a:t>e governança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3017520"/>
            <a:ext cx="221284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050" b="0" noProof="0" dirty="0">
                <a:solidFill>
                  <a:srgbClr val="C7D4E6"/>
                </a:solidFill>
                <a:latin typeface="Segoe UI"/>
              </a:rPr>
              <a:t>trilha de auditoria, RBAC e multiempresa nativa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77639"/>
            <a:ext cx="10972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600" b="1" noProof="0" dirty="0">
                <a:solidFill>
                  <a:srgbClr val="0F1B2E"/>
                </a:solidFill>
                <a:latin typeface="Segoe UI Semibold"/>
              </a:rPr>
              <a:t>Quatro pilares, um ciclo de gestão continuo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80560"/>
            <a:ext cx="2670048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Rectangle 24"/>
          <p:cNvSpPr/>
          <p:nvPr/>
        </p:nvSpPr>
        <p:spPr>
          <a:xfrm>
            <a:off x="640080" y="4480560"/>
            <a:ext cx="100584" cy="16002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914400" y="4681728"/>
            <a:ext cx="22128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noProof="0" dirty="0">
                <a:solidFill>
                  <a:srgbClr val="2B5CE6"/>
                </a:solidFill>
                <a:latin typeface="Segoe UI Semibold"/>
              </a:rPr>
              <a:t>Estratégia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74920"/>
            <a:ext cx="2212848" cy="553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00" b="0" noProof="0" dirty="0">
                <a:solidFill>
                  <a:srgbClr val="5B6B82"/>
                </a:solidFill>
                <a:latin typeface="Segoe UI"/>
              </a:rPr>
              <a:t>Indicadores, metas, OKR/BSC, painel executivo e reunião de resultados.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4480560"/>
            <a:ext cx="2670048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474720" y="4480560"/>
            <a:ext cx="100584" cy="1600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3749040" y="4681728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noProof="0" dirty="0">
                <a:solidFill>
                  <a:srgbClr val="14B8A6"/>
                </a:solidFill>
                <a:latin typeface="Segoe UI Semibold"/>
              </a:rPr>
              <a:t>Qualidade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5074920"/>
            <a:ext cx="2212848" cy="553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00" b="0" noProof="0" dirty="0">
                <a:solidFill>
                  <a:srgbClr val="5B6B82"/>
                </a:solidFill>
                <a:latin typeface="Segoe UI"/>
              </a:rPr>
              <a:t>Riscos, não conformidades, auditorias, documentos e segurança de alimentos.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480560"/>
            <a:ext cx="2670048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Rectangle 32"/>
          <p:cNvSpPr/>
          <p:nvPr/>
        </p:nvSpPr>
        <p:spPr>
          <a:xfrm>
            <a:off x="6309360" y="4480560"/>
            <a:ext cx="100584" cy="1600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6583680" y="4681728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noProof="0" dirty="0">
                <a:solidFill>
                  <a:srgbClr val="F59E0B"/>
                </a:solidFill>
                <a:latin typeface="Segoe UI Semibold"/>
              </a:rPr>
              <a:t>Pessoas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074920"/>
            <a:ext cx="2212848" cy="553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00" b="0" noProof="0" dirty="0">
                <a:solidFill>
                  <a:srgbClr val="5B6B82"/>
                </a:solidFill>
                <a:latin typeface="Segoe UI"/>
              </a:rPr>
              <a:t>Cargos e salários, equidade (Lei 14.611) e remuneração variável (premio).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4480560"/>
            <a:ext cx="2670048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7" name="Rectangle 36"/>
          <p:cNvSpPr/>
          <p:nvPr/>
        </p:nvSpPr>
        <p:spPr>
          <a:xfrm>
            <a:off x="9144000" y="4480560"/>
            <a:ext cx="100584" cy="1600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9418320" y="4681728"/>
            <a:ext cx="221284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noProof="0" dirty="0">
                <a:solidFill>
                  <a:srgbClr val="16A34A"/>
                </a:solidFill>
                <a:latin typeface="Segoe UI Semibold"/>
              </a:rPr>
              <a:t>Operação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5074920"/>
            <a:ext cx="2212848" cy="553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00" b="0" noProof="0" dirty="0">
                <a:solidFill>
                  <a:srgbClr val="5B6B82"/>
                </a:solidFill>
                <a:latin typeface="Segoe UI"/>
              </a:rPr>
              <a:t>Segurança patrimonial, tarefas, automações, comunicação e Meu 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ARQUITETURA FUNCIONAL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200" b="1" noProof="0" dirty="0">
                <a:solidFill>
                  <a:srgbClr val="0F1B2E"/>
                </a:solidFill>
                <a:latin typeface="Segoe UI Semibold"/>
              </a:rPr>
              <a:t>Os 10 módulos do Gestão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00" b="0" noProof="0" dirty="0">
                <a:solidFill>
                  <a:srgbClr val="5B6B82"/>
                </a:solidFill>
                <a:latin typeface="Segoe U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12140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121408" cy="91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Oval 8"/>
          <p:cNvSpPr/>
          <p:nvPr/>
        </p:nvSpPr>
        <p:spPr>
          <a:xfrm>
            <a:off x="822960" y="2039112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22960" y="20391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300" b="1" noProof="0" dirty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32888"/>
            <a:ext cx="175564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50" b="1" noProof="0" dirty="0">
                <a:solidFill>
                  <a:srgbClr val="0F1B2E"/>
                </a:solidFill>
                <a:latin typeface="Segoe UI Semibold"/>
              </a:rPr>
              <a:t>Meu 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1755648" cy="449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Caixa de entrada corporativa: tudo que exige sua ação em um lugar.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9312"/>
            <a:ext cx="17556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850" b="1" noProof="0" dirty="0">
                <a:solidFill>
                  <a:srgbClr val="14B8A6"/>
                </a:solidFill>
                <a:latin typeface="Segoe UI"/>
              </a:rPr>
              <a:t>Incluso em todos os planos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8648" y="1783080"/>
            <a:ext cx="212140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Rectangle 14"/>
          <p:cNvSpPr/>
          <p:nvPr/>
        </p:nvSpPr>
        <p:spPr>
          <a:xfrm>
            <a:off x="2898648" y="1783080"/>
            <a:ext cx="2121408" cy="91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Oval 15"/>
          <p:cNvSpPr/>
          <p:nvPr/>
        </p:nvSpPr>
        <p:spPr>
          <a:xfrm>
            <a:off x="3081528" y="2039112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3081528" y="20391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300" b="1" noProof="0" dirty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532888"/>
            <a:ext cx="175564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50" b="1" noProof="0" dirty="0">
                <a:solidFill>
                  <a:srgbClr val="0F1B2E"/>
                </a:solidFill>
                <a:latin typeface="Segoe UI Semibold"/>
              </a:rPr>
              <a:t>Tarefas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1528" y="3108960"/>
            <a:ext cx="1755648" cy="296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Gestão de tarefas e demandas com prazos e responsáveis.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1528" y="3639312"/>
            <a:ext cx="17556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850" b="1" noProof="0" dirty="0">
                <a:solidFill>
                  <a:srgbClr val="14B8A6"/>
                </a:solidFill>
                <a:latin typeface="Segoe UI"/>
              </a:rPr>
              <a:t>Incluso em todos os planos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57216" y="1783080"/>
            <a:ext cx="212140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Rectangle 21"/>
          <p:cNvSpPr/>
          <p:nvPr/>
        </p:nvSpPr>
        <p:spPr>
          <a:xfrm>
            <a:off x="5157216" y="1783080"/>
            <a:ext cx="2121408" cy="91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Oval 22"/>
          <p:cNvSpPr/>
          <p:nvPr/>
        </p:nvSpPr>
        <p:spPr>
          <a:xfrm>
            <a:off x="5340096" y="2039112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340096" y="20391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300" b="1" noProof="0" dirty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0096" y="2532888"/>
            <a:ext cx="1755648" cy="188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50" b="1" noProof="0" dirty="0">
                <a:solidFill>
                  <a:srgbClr val="0F1B2E"/>
                </a:solidFill>
                <a:latin typeface="Segoe UI Semibold"/>
              </a:rPr>
              <a:t>Administração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0096" y="3108960"/>
            <a:ext cx="1755648" cy="296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Usuários, aprovações, períodos, automações e relatórios.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3639312"/>
            <a:ext cx="17556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850" b="1" noProof="0" dirty="0">
                <a:solidFill>
                  <a:srgbClr val="14B8A6"/>
                </a:solidFill>
                <a:latin typeface="Segoe UI"/>
              </a:rPr>
              <a:t>Incluso em todos os planos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15784" y="1783080"/>
            <a:ext cx="212140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" name="Rectangle 28"/>
          <p:cNvSpPr/>
          <p:nvPr/>
        </p:nvSpPr>
        <p:spPr>
          <a:xfrm>
            <a:off x="7415784" y="1783080"/>
            <a:ext cx="2121408" cy="9144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Oval 29"/>
          <p:cNvSpPr/>
          <p:nvPr/>
        </p:nvSpPr>
        <p:spPr>
          <a:xfrm>
            <a:off x="7598664" y="2039112"/>
            <a:ext cx="384048" cy="384048"/>
          </a:xfrm>
          <a:prstGeom prst="ellipse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7598664" y="20391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300" b="1" noProof="0" dirty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98664" y="2532888"/>
            <a:ext cx="1755648" cy="188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50" b="1" noProof="0" dirty="0">
                <a:solidFill>
                  <a:srgbClr val="0F1B2E"/>
                </a:solidFill>
                <a:latin typeface="Segoe UI Semibold"/>
              </a:rPr>
              <a:t>Gestão a Vista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98664" y="3108960"/>
            <a:ext cx="1755648" cy="449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Indicadores, metas, farol, painel executivo, desvios e reunião mensal.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98664" y="3639312"/>
            <a:ext cx="17556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850" b="1" noProof="0" dirty="0">
                <a:solidFill>
                  <a:srgbClr val="2B5CE6"/>
                </a:solidFill>
                <a:latin typeface="Segoe UI"/>
              </a:rPr>
              <a:t>A partir do plano Essencial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74352" y="1783080"/>
            <a:ext cx="212140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6" name="Rectangle 35"/>
          <p:cNvSpPr/>
          <p:nvPr/>
        </p:nvSpPr>
        <p:spPr>
          <a:xfrm>
            <a:off x="9674352" y="1783080"/>
            <a:ext cx="2121408" cy="9144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7" name="Oval 36"/>
          <p:cNvSpPr/>
          <p:nvPr/>
        </p:nvSpPr>
        <p:spPr>
          <a:xfrm>
            <a:off x="9857232" y="2039112"/>
            <a:ext cx="384048" cy="384048"/>
          </a:xfrm>
          <a:prstGeom prst="ellipse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9857232" y="20391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300" b="1" noProof="0" dirty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57232" y="2532888"/>
            <a:ext cx="175564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50" b="1" noProof="0" dirty="0">
                <a:solidFill>
                  <a:srgbClr val="0F1B2E"/>
                </a:solidFill>
                <a:latin typeface="Segoe UI Semibold"/>
              </a:rPr>
              <a:t>Qualidade e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57232" y="3108960"/>
            <a:ext cx="1755648" cy="296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Riscos 5x5, não conformidades, auditorias, GED e processos.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57232" y="3639312"/>
            <a:ext cx="17556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850" b="1" noProof="0" dirty="0">
                <a:solidFill>
                  <a:srgbClr val="2B5CE6"/>
                </a:solidFill>
                <a:latin typeface="Segoe UI"/>
              </a:rPr>
              <a:t>A partir do plano Profissional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114800"/>
            <a:ext cx="212140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3" name="Rectangle 42"/>
          <p:cNvSpPr/>
          <p:nvPr/>
        </p:nvSpPr>
        <p:spPr>
          <a:xfrm>
            <a:off x="640080" y="4114800"/>
            <a:ext cx="2121408" cy="9144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4" name="Oval 43"/>
          <p:cNvSpPr/>
          <p:nvPr/>
        </p:nvSpPr>
        <p:spPr>
          <a:xfrm>
            <a:off x="822960" y="4370832"/>
            <a:ext cx="384048" cy="384048"/>
          </a:xfrm>
          <a:prstGeom prst="ellipse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822960" y="43708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300" b="1" noProof="0" dirty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4864608"/>
            <a:ext cx="1755648" cy="188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50" b="1" noProof="0" dirty="0">
                <a:solidFill>
                  <a:srgbClr val="0F1B2E"/>
                </a:solidFill>
                <a:latin typeface="Segoe UI Semibold"/>
              </a:rPr>
              <a:t>Comunicação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440680"/>
            <a:ext cx="175564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Chat corporativo, comunicados e mural em abas integradas.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971032"/>
            <a:ext cx="17556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850" b="1" noProof="0" dirty="0">
                <a:solidFill>
                  <a:srgbClr val="2B5CE6"/>
                </a:solidFill>
                <a:latin typeface="Segoe UI"/>
              </a:rPr>
              <a:t>A partir do plano Profissional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98648" y="4114800"/>
            <a:ext cx="212140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0" name="Rectangle 49"/>
          <p:cNvSpPr/>
          <p:nvPr/>
        </p:nvSpPr>
        <p:spPr>
          <a:xfrm>
            <a:off x="2898648" y="4114800"/>
            <a:ext cx="212140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1" name="Oval 50"/>
          <p:cNvSpPr/>
          <p:nvPr/>
        </p:nvSpPr>
        <p:spPr>
          <a:xfrm>
            <a:off x="3081528" y="4370832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2" name="TextBox 51"/>
          <p:cNvSpPr txBox="1"/>
          <p:nvPr/>
        </p:nvSpPr>
        <p:spPr>
          <a:xfrm>
            <a:off x="3081528" y="43708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300" b="1" noProof="0" dirty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81528" y="4864608"/>
            <a:ext cx="1755648" cy="188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50" b="1" noProof="0" dirty="0">
                <a:solidFill>
                  <a:srgbClr val="0F1B2E"/>
                </a:solidFill>
                <a:latin typeface="Segoe UI Semibold"/>
              </a:rPr>
              <a:t>Cargos e Salários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81528" y="5440680"/>
            <a:ext cx="1755648" cy="449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Estrutura de cargos, tabela salarial, mérito e equidade (Lei 14.611).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81528" y="5971032"/>
            <a:ext cx="17556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850" b="1" noProof="0" dirty="0">
                <a:solidFill>
                  <a:srgbClr val="F59E0B"/>
                </a:solidFill>
                <a:latin typeface="Segoe UI"/>
              </a:rPr>
              <a:t>A partir do plano Corporativo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57216" y="4114800"/>
            <a:ext cx="212140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7" name="Rectangle 56"/>
          <p:cNvSpPr/>
          <p:nvPr/>
        </p:nvSpPr>
        <p:spPr>
          <a:xfrm>
            <a:off x="5157216" y="4114800"/>
            <a:ext cx="212140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8" name="Oval 57"/>
          <p:cNvSpPr/>
          <p:nvPr/>
        </p:nvSpPr>
        <p:spPr>
          <a:xfrm>
            <a:off x="5340096" y="4370832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9" name="TextBox 58"/>
          <p:cNvSpPr txBox="1"/>
          <p:nvPr/>
        </p:nvSpPr>
        <p:spPr>
          <a:xfrm>
            <a:off x="5340096" y="43708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300" b="1" noProof="0" dirty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40096" y="4864608"/>
            <a:ext cx="1755648" cy="3770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50" b="1" noProof="0" dirty="0">
                <a:solidFill>
                  <a:srgbClr val="0F1B2E"/>
                </a:solidFill>
                <a:latin typeface="Segoe UI Semibold"/>
              </a:rPr>
              <a:t>Segurança dos Alimentos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40096" y="5440680"/>
            <a:ext cx="1755648" cy="449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Fluxos APPCC/HACCP e controles de segurança de alimentos.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40096" y="5971032"/>
            <a:ext cx="17556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850" b="1" noProof="0" dirty="0">
                <a:solidFill>
                  <a:srgbClr val="F59E0B"/>
                </a:solidFill>
                <a:latin typeface="Segoe UI"/>
              </a:rPr>
              <a:t>A partir do plano Corporativo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415784" y="4114800"/>
            <a:ext cx="212140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4" name="Rectangle 63"/>
          <p:cNvSpPr/>
          <p:nvPr/>
        </p:nvSpPr>
        <p:spPr>
          <a:xfrm>
            <a:off x="7415784" y="4114800"/>
            <a:ext cx="212140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5" name="Oval 64"/>
          <p:cNvSpPr/>
          <p:nvPr/>
        </p:nvSpPr>
        <p:spPr>
          <a:xfrm>
            <a:off x="7598664" y="4370832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6" name="TextBox 65"/>
          <p:cNvSpPr txBox="1"/>
          <p:nvPr/>
        </p:nvSpPr>
        <p:spPr>
          <a:xfrm>
            <a:off x="7598664" y="43708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300" b="1" noProof="0" dirty="0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98664" y="4864608"/>
            <a:ext cx="1755648" cy="188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50" b="1" noProof="0" dirty="0">
                <a:solidFill>
                  <a:srgbClr val="0F1B2E"/>
                </a:solidFill>
                <a:latin typeface="Segoe UI Semibold"/>
              </a:rPr>
              <a:t>Segurança Patrimonial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98664" y="5440680"/>
            <a:ext cx="1755648" cy="449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Rondas com QR, autorizações, ocorrências e portaria com modo offline.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98664" y="5971032"/>
            <a:ext cx="17556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850" b="1" noProof="0" dirty="0">
                <a:solidFill>
                  <a:srgbClr val="F59E0B"/>
                </a:solidFill>
                <a:latin typeface="Segoe UI"/>
              </a:rPr>
              <a:t>A partir do plano Corporativo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674352" y="4114800"/>
            <a:ext cx="2121408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1" name="Rectangle 70"/>
          <p:cNvSpPr/>
          <p:nvPr/>
        </p:nvSpPr>
        <p:spPr>
          <a:xfrm>
            <a:off x="9674352" y="4114800"/>
            <a:ext cx="2121408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2" name="Oval 71"/>
          <p:cNvSpPr/>
          <p:nvPr/>
        </p:nvSpPr>
        <p:spPr>
          <a:xfrm>
            <a:off x="9857232" y="4370832"/>
            <a:ext cx="384048" cy="38404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3" name="TextBox 72"/>
          <p:cNvSpPr txBox="1"/>
          <p:nvPr/>
        </p:nvSpPr>
        <p:spPr>
          <a:xfrm>
            <a:off x="9857232" y="43708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300" b="1" noProof="0" dirty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57232" y="4864608"/>
            <a:ext cx="1755648" cy="188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50" b="1" noProof="0" dirty="0">
                <a:solidFill>
                  <a:srgbClr val="0F1B2E"/>
                </a:solidFill>
                <a:latin typeface="Segoe UI Semibold"/>
              </a:rPr>
              <a:t>Gestão de Premio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57232" y="5440680"/>
            <a:ext cx="1755648" cy="4497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Remuneração variável com regras em matriz e motor de calculo calibrado.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57232" y="5971032"/>
            <a:ext cx="17556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850" b="1" noProof="0" dirty="0">
                <a:solidFill>
                  <a:srgbClr val="16A34A"/>
                </a:solidFill>
                <a:latin typeface="Segoe UI"/>
              </a:rPr>
              <a:t>A partir do plano Enterprise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MODULO 04  ·  ESTRATEGIA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200" b="1" noProof="0" dirty="0">
                <a:solidFill>
                  <a:srgbClr val="0F1B2E"/>
                </a:solidFill>
                <a:latin typeface="Segoe UI Semibold"/>
              </a:rPr>
              <a:t>Gestão a Vista — do indicador a decisão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00" b="0" noProof="0" dirty="0">
                <a:solidFill>
                  <a:srgbClr val="5B6B82"/>
                </a:solidFill>
                <a:latin typeface="Segoe U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0215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502152" cy="658368"/>
          </a:xfrm>
          <a:prstGeom prst="roundRect">
            <a:avLst>
              <a:gd name="adj" fmla="val 4000"/>
            </a:avLst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640080" y="2112264"/>
            <a:ext cx="3502152" cy="329184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FFFFFF"/>
                </a:solidFill>
                <a:latin typeface="Segoe UI Semibold"/>
              </a:rPr>
              <a:t>Indicadores &amp; Metas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51760"/>
            <a:ext cx="2999232" cy="2138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2B5CE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KPIs com meta, meta secundaria e faixa de ganho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2B5CE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Farol por atingimento real (não desvio bruto)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2B5CE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Painel Executivo Mensal e Acumulado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2B5CE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Drill-down por mês e Visão 360 do indicador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2B5CE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Insights e riscos calculados automaticamente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50215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ounded Rectangle 12"/>
          <p:cNvSpPr/>
          <p:nvPr/>
        </p:nvSpPr>
        <p:spPr>
          <a:xfrm>
            <a:off x="4343400" y="1783080"/>
            <a:ext cx="3502152" cy="658368"/>
          </a:xfrm>
          <a:prstGeom prst="roundRect">
            <a:avLst>
              <a:gd name="adj" fmla="val 4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4343400" y="2112264"/>
            <a:ext cx="3502152" cy="3291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4572000" y="2004542"/>
            <a:ext cx="304495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FFFFFF"/>
                </a:solidFill>
                <a:latin typeface="Segoe UI Semibold"/>
              </a:rPr>
              <a:t>Analise &amp; 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2999232" cy="1341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Desvios com bloqueio de causa raiz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Ishikawa, PDCA, 5W2H e 5 Porquês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Planos de ação e tratamento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Verificação de eficácia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Importação de dados em lote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783080"/>
            <a:ext cx="350215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8046720" y="1783080"/>
            <a:ext cx="3502152" cy="658368"/>
          </a:xfrm>
          <a:prstGeom prst="roundRect">
            <a:avLst>
              <a:gd name="adj" fmla="val 4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Rectangle 18"/>
          <p:cNvSpPr/>
          <p:nvPr/>
        </p:nvSpPr>
        <p:spPr>
          <a:xfrm>
            <a:off x="8046720" y="2112264"/>
            <a:ext cx="3502152" cy="329184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8275320" y="2004542"/>
            <a:ext cx="304495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FFFFFF"/>
                </a:solidFill>
                <a:latin typeface="Segoe UI Semibold"/>
              </a:rPr>
              <a:t>Governança estratégica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651760"/>
            <a:ext cx="2999232" cy="1341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02A54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OKR e Balanced Scorecard (BSC)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02A54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Organograma e estrutura organizacional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02A54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Reunião Mensal de Resultados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02A54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Workspace da reunião + apresentação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02A54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Exports executivos (PDF/imagem)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MODULOS 05-06  · 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200" b="1" noProof="0" dirty="0">
                <a:solidFill>
                  <a:srgbClr val="0F1B2E"/>
                </a:solidFill>
                <a:latin typeface="Segoe UI Semibold"/>
              </a:rPr>
              <a:t>Qualidade, Compliance e Comunicação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00" b="0" noProof="0" dirty="0">
                <a:solidFill>
                  <a:srgbClr val="5B6B82"/>
                </a:solidFill>
                <a:latin typeface="Segoe U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0215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502152" cy="658368"/>
          </a:xfrm>
          <a:prstGeom prst="roundRect">
            <a:avLst>
              <a:gd name="adj" fmla="val 4000"/>
            </a:avLst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640080" y="2112264"/>
            <a:ext cx="3502152" cy="329184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FFFFFF"/>
                </a:solidFill>
                <a:latin typeface="Segoe UI Semibold"/>
              </a:rPr>
              <a:t>Qualidade &amp; Risco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51760"/>
            <a:ext cx="2999232" cy="1341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2B5CE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Matriz de riscos 5x5 com risco residual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2B5CE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Não conformidades (NC)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2B5CE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Checklist que gera NC automática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2B5CE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Auditorias internas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2B5CE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Vision 360 da qualidade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50215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ounded Rectangle 12"/>
          <p:cNvSpPr/>
          <p:nvPr/>
        </p:nvSpPr>
        <p:spPr>
          <a:xfrm>
            <a:off x="4343400" y="1783080"/>
            <a:ext cx="3502152" cy="658368"/>
          </a:xfrm>
          <a:prstGeom prst="roundRect">
            <a:avLst>
              <a:gd name="adj" fmla="val 4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4343400" y="2112264"/>
            <a:ext cx="3502152" cy="3291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4572000" y="1783080"/>
            <a:ext cx="304495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FFFFFF"/>
                </a:solidFill>
                <a:latin typeface="Segoe UI Semibold"/>
              </a:rPr>
              <a:t>Documentos &amp; Processos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2999232" cy="1341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GED com editor DOCX online (Collabora)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Galeria de modelos e publicação em PDF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Versionamento e explorador ECM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Mapeamento de processos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Construtor de formulários em cartões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783080"/>
            <a:ext cx="350215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8046720" y="1783080"/>
            <a:ext cx="3502152" cy="658368"/>
          </a:xfrm>
          <a:prstGeom prst="roundRect">
            <a:avLst>
              <a:gd name="adj" fmla="val 4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Rectangle 18"/>
          <p:cNvSpPr/>
          <p:nvPr/>
        </p:nvSpPr>
        <p:spPr>
          <a:xfrm>
            <a:off x="8046720" y="2112264"/>
            <a:ext cx="3502152" cy="329184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8275320" y="2004542"/>
            <a:ext cx="304495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FFFFFF"/>
                </a:solidFill>
                <a:latin typeface="Segoe UI Semibold"/>
              </a:rPr>
              <a:t>Comunicação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651760"/>
            <a:ext cx="2999232" cy="1341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02A54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Chat corporativo integrado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02A54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Comunicados e avisos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02A54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Mural e canais por área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02A54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Sete abas em uma única central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02A54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Notificações no Meu Dia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MODULOS 07-09  ·  PESSOAS &amp; OPERACAO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200" b="1" noProof="0" dirty="0">
                <a:solidFill>
                  <a:srgbClr val="0F1B2E"/>
                </a:solidFill>
                <a:latin typeface="Segoe UI Semibold"/>
              </a:rPr>
              <a:t>Cargos, Equidade, Premio e Segurança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00" b="0" noProof="0" dirty="0">
                <a:solidFill>
                  <a:srgbClr val="5B6B82"/>
                </a:solidFill>
                <a:latin typeface="Segoe U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0215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502152" cy="658368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640080" y="2112264"/>
            <a:ext cx="3502152" cy="3291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68680" y="2004542"/>
            <a:ext cx="304495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FFFFFF"/>
                </a:solidFill>
                <a:latin typeface="Segoe UI Semibold"/>
              </a:rPr>
              <a:t>Cargos e Salários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51760"/>
            <a:ext cx="2999232" cy="1341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F59E0B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Estrutura de cargos e tabela salarial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F59E0B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Analises de mercado no cliente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F59E0B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Mérito com distribuição de ratings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F59E0B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Equidade Salarial — Lei 14.611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F59E0B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Relatório de Transparência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50215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ounded Rectangle 12"/>
          <p:cNvSpPr/>
          <p:nvPr/>
        </p:nvSpPr>
        <p:spPr>
          <a:xfrm>
            <a:off x="4343400" y="1783080"/>
            <a:ext cx="3502152" cy="658368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4343400" y="2112264"/>
            <a:ext cx="3502152" cy="3291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4572000" y="2004542"/>
            <a:ext cx="304495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FFFFFF"/>
                </a:solidFill>
                <a:latin typeface="Segoe UI Semibold"/>
              </a:rPr>
              <a:t>Gestão de Premio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2999232" cy="1341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6A34A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Remuneração variável ponta a ponta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6A34A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Regras em matriz (área x cargo)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6A34A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Vinculo de indicadores ao premio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6A34A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Motor de calculo calibrado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6A34A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Importação CSV/XLSX e validação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783080"/>
            <a:ext cx="350215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8046720" y="1783080"/>
            <a:ext cx="3502152" cy="658368"/>
          </a:xfrm>
          <a:prstGeom prst="roundRect">
            <a:avLst>
              <a:gd name="adj" fmla="val 4000"/>
            </a:avLst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Rectangle 18"/>
          <p:cNvSpPr/>
          <p:nvPr/>
        </p:nvSpPr>
        <p:spPr>
          <a:xfrm>
            <a:off x="8046720" y="2112264"/>
            <a:ext cx="3502152" cy="329184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8275320" y="2004542"/>
            <a:ext cx="304495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FFFFFF"/>
                </a:solidFill>
                <a:latin typeface="Segoe UI Semibold"/>
              </a:rPr>
              <a:t>Segurança Patrimonial &amp; Alimentos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651760"/>
            <a:ext cx="2999232" cy="1341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02A54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Portaria: autorizações e correspondências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02A54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Rondas com planta, pinos e QR Code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02A54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Ocorrências e turnos, modo offline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02A54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Fluxos APPCC/HACCP de alimentos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02A54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Exigência documental e auditoria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PLATAFORMA  ·  RECURSOS TRANSVERSAIS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99396"/>
            <a:ext cx="1078992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200" b="1" noProof="0" dirty="0">
                <a:solidFill>
                  <a:srgbClr val="0F1B2E"/>
                </a:solidFill>
                <a:latin typeface="Segoe UI Semibold"/>
              </a:rPr>
              <a:t>Inteligência, automação e governança em toda a 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00" b="0" noProof="0" dirty="0">
                <a:solidFill>
                  <a:srgbClr val="5B6B82"/>
                </a:solidFill>
                <a:latin typeface="Segoe U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43337"/>
            <a:ext cx="257632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640080" y="1943337"/>
            <a:ext cx="2576322" cy="658368"/>
          </a:xfrm>
          <a:prstGeom prst="roundRect">
            <a:avLst>
              <a:gd name="adj" fmla="val 4000"/>
            </a:avLst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ctangle 8"/>
          <p:cNvSpPr/>
          <p:nvPr/>
        </p:nvSpPr>
        <p:spPr>
          <a:xfrm>
            <a:off x="640080" y="2272521"/>
            <a:ext cx="2576322" cy="329184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68680" y="1943337"/>
            <a:ext cx="211912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FFFFFF"/>
                </a:solidFill>
                <a:latin typeface="Segoe UI Semibold"/>
              </a:rPr>
              <a:t>Assistente de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12017"/>
            <a:ext cx="2073402" cy="184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2B5CE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Assistente com IA (Google Gemini)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2B5CE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Conhece o mapa da plataforma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2B5CE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Busca ao vivo no banco com permissões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2B5CE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Guias de preenchimento passo a passo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7570" y="1943337"/>
            <a:ext cx="257632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ounded Rectangle 12"/>
          <p:cNvSpPr/>
          <p:nvPr/>
        </p:nvSpPr>
        <p:spPr>
          <a:xfrm>
            <a:off x="3417570" y="1943337"/>
            <a:ext cx="2576322" cy="658368"/>
          </a:xfrm>
          <a:prstGeom prst="roundRect">
            <a:avLst>
              <a:gd name="adj" fmla="val 4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3417570" y="2272521"/>
            <a:ext cx="2576322" cy="3291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3646170" y="2164799"/>
            <a:ext cx="211912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FFFFFF"/>
                </a:solidFill>
                <a:latin typeface="Segoe UI Semibold"/>
              </a:rPr>
              <a:t>Automações &amp; Meu 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3602" y="2812017"/>
            <a:ext cx="2073402" cy="184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Central de Automações e workflows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Politicas de SLA e escalonamentos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Meu Dia agrega tudo sem duplicar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Delegação e visões de equipe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60" y="1943337"/>
            <a:ext cx="257632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6195060" y="1943337"/>
            <a:ext cx="2576322" cy="658368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Rectangle 18"/>
          <p:cNvSpPr/>
          <p:nvPr/>
        </p:nvSpPr>
        <p:spPr>
          <a:xfrm>
            <a:off x="6195060" y="2272521"/>
            <a:ext cx="2576322" cy="3291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6423660" y="1943337"/>
            <a:ext cx="211912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FFFFFF"/>
                </a:solidFill>
                <a:latin typeface="Segoe UI Semibold"/>
              </a:rPr>
              <a:t>Multiempresa &amp; Marca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1092" y="2812017"/>
            <a:ext cx="2073402" cy="184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F59E0B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Multiempresa nativa (isolamento por empresa)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F59E0B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Multi-tenant por subdomínio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F59E0B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empresa.gestao360.org com marca própria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F59E0B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Troca de empresa ativa (impersonacao)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2550" y="1943337"/>
            <a:ext cx="2576322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Rounded Rectangle 22"/>
          <p:cNvSpPr/>
          <p:nvPr/>
        </p:nvSpPr>
        <p:spPr>
          <a:xfrm>
            <a:off x="8972550" y="1943337"/>
            <a:ext cx="2576322" cy="658368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Rectangle 23"/>
          <p:cNvSpPr/>
          <p:nvPr/>
        </p:nvSpPr>
        <p:spPr>
          <a:xfrm>
            <a:off x="8972550" y="2272521"/>
            <a:ext cx="2576322" cy="32918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9201150" y="2164799"/>
            <a:ext cx="211912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FFFFFF"/>
                </a:solidFill>
                <a:latin typeface="Segoe UI Semibold"/>
              </a:rPr>
              <a:t>Segurança &amp; LGPD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8582" y="2812017"/>
            <a:ext cx="2073402" cy="333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6A34A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RBAC e perfis de acesso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6A34A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Trilha de auditoria completa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6A34A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Modulo LGPD: RoPA e incidentes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lang="pt-BR" sz="1200" b="1" noProof="0" dirty="0">
                <a:solidFill>
                  <a:srgbClr val="16A34A"/>
                </a:solidFill>
                <a:latin typeface="Segoe UI"/>
              </a:rPr>
              <a:t>•  </a:t>
            </a:r>
            <a:r>
              <a:rPr lang="pt-BR" sz="1200" b="0" noProof="0" dirty="0">
                <a:solidFill>
                  <a:srgbClr val="0F1B2E"/>
                </a:solidFill>
                <a:latin typeface="Segoe UI"/>
              </a:rPr>
              <a:t>Observabilidade e logs estruturados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1633"/>
              </a:gs>
              <a:gs pos="100000">
                <a:srgbClr val="142E63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Oval 3"/>
          <p:cNvSpPr/>
          <p:nvPr/>
        </p:nvSpPr>
        <p:spPr>
          <a:xfrm>
            <a:off x="8961120" y="1828800"/>
            <a:ext cx="3200400" cy="3200400"/>
          </a:xfrm>
          <a:prstGeom prst="ellipse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300" b="1" noProof="0" dirty="0">
                <a:solidFill>
                  <a:srgbClr val="14B8A6"/>
                </a:solidFill>
                <a:latin typeface="Segoe UI"/>
              </a:rPr>
              <a:t>02  /  PARTE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88920"/>
            <a:ext cx="960120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4600" b="1" noProof="0" dirty="0">
                <a:solidFill>
                  <a:srgbClr val="FFFFFF"/>
                </a:solidFill>
                <a:latin typeface="Segoe UI Semibold"/>
              </a:rPr>
              <a:t>Planos e preços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86200"/>
            <a:ext cx="9144000" cy="552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700" b="0" noProof="0" dirty="0">
                <a:solidFill>
                  <a:srgbClr val="C7D4E6"/>
                </a:solidFill>
                <a:latin typeface="Segoe UI"/>
              </a:rPr>
              <a:t>Contratação cumulativa: cada plano soma os módulos do anterior. Valores mensais em reais, sem fidelidade obrigatória.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PLANOS COMERCIAIS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200" b="1" noProof="0" dirty="0">
                <a:solidFill>
                  <a:srgbClr val="0F1B2E"/>
                </a:solidFill>
                <a:latin typeface="Segoe UI Semibold"/>
              </a:rPr>
              <a:t>Escolha o plano na medida da sua operação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00" b="0" noProof="0" dirty="0">
                <a:solidFill>
                  <a:srgbClr val="5B6B82"/>
                </a:solidFill>
                <a:latin typeface="Segoe U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2697480" cy="4279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697480" cy="128016"/>
          </a:xfrm>
          <a:prstGeom prst="roundRect">
            <a:avLst>
              <a:gd name="adj" fmla="val 50000"/>
            </a:avLst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2000" b="1" noProof="0" dirty="0">
                <a:solidFill>
                  <a:srgbClr val="2B5CE6"/>
                </a:solidFill>
                <a:latin typeface="Segoe UI Semibold"/>
              </a:rPr>
              <a:t>Essencial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214884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050" b="0" noProof="0" dirty="0">
                <a:solidFill>
                  <a:srgbClr val="5B6B82"/>
                </a:solidFill>
                <a:latin typeface="Segoe UI"/>
              </a:rPr>
              <a:t>Para começar a gerir por indicadores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21488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2700" b="1" noProof="0" dirty="0">
                <a:solidFill>
                  <a:srgbClr val="0F1B2E"/>
                </a:solidFill>
                <a:latin typeface="Segoe UI Semibold"/>
              </a:rPr>
              <a:t>R$ 990</a:t>
            </a:r>
            <a:r>
              <a:rPr lang="pt-BR" sz="1200" b="0" noProof="0" dirty="0">
                <a:solidFill>
                  <a:srgbClr val="5B6B82"/>
                </a:solidFill>
                <a:latin typeface="Segoe UI"/>
              </a:rPr>
              <a:t> /mês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21488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050" b="1" noProof="0" dirty="0">
                <a:solidFill>
                  <a:srgbClr val="2B5CE6"/>
                </a:solidFill>
                <a:latin typeface="Segoe UI"/>
              </a:rPr>
              <a:t>Setup grátis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977640"/>
            <a:ext cx="21488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914400" y="4133088"/>
            <a:ext cx="12344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Usuários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13308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2112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Filiais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42112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7668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Suporte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676688"/>
            <a:ext cx="105156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Padrão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6472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SLA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964724"/>
            <a:ext cx="105156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Prox. dia útil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2760"/>
            <a:ext cx="12344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Teste grátis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25276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14 dias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83864" y="1481328"/>
            <a:ext cx="2697480" cy="444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4B8A6"/>
            </a:solidFill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Rounded Rectangle 26"/>
          <p:cNvSpPr/>
          <p:nvPr/>
        </p:nvSpPr>
        <p:spPr>
          <a:xfrm>
            <a:off x="4764024" y="148132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4764024" y="1481328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850" b="1" noProof="0" dirty="0">
                <a:solidFill>
                  <a:srgbClr val="FFFFFF"/>
                </a:solidFill>
                <a:latin typeface="Segoe UI"/>
              </a:rPr>
              <a:t>MAIS ESCOLHIDO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83864" y="1481328"/>
            <a:ext cx="2697480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3758184" y="184708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2000" b="1" noProof="0" dirty="0">
                <a:solidFill>
                  <a:srgbClr val="14B8A6"/>
                </a:solidFill>
                <a:latin typeface="Segoe UI Semibold"/>
              </a:rPr>
              <a:t>Profissional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58184" y="2304288"/>
            <a:ext cx="214884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050" b="0" noProof="0" dirty="0">
                <a:solidFill>
                  <a:srgbClr val="5B6B82"/>
                </a:solidFill>
                <a:latin typeface="Segoe UI"/>
              </a:rPr>
              <a:t>Estratégia + qualidade + comunicação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8184" y="2898648"/>
            <a:ext cx="21488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2700" b="1" noProof="0" dirty="0">
                <a:solidFill>
                  <a:srgbClr val="0F1B2E"/>
                </a:solidFill>
                <a:latin typeface="Segoe UI Semibold"/>
              </a:rPr>
              <a:t>R$ 2.490</a:t>
            </a:r>
            <a:r>
              <a:rPr lang="pt-BR" sz="1200" b="0" noProof="0" dirty="0">
                <a:solidFill>
                  <a:srgbClr val="5B6B82"/>
                </a:solidFill>
                <a:latin typeface="Segoe UI"/>
              </a:rPr>
              <a:t> /mês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58184" y="344728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050" b="1" noProof="0" dirty="0">
                <a:solidFill>
                  <a:srgbClr val="14B8A6"/>
                </a:solidFill>
                <a:latin typeface="Segoe UI"/>
              </a:rPr>
              <a:t>Setup R$ 2.500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58184" y="3813048"/>
            <a:ext cx="21488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3758184" y="3968496"/>
            <a:ext cx="12344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Usuários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5464" y="3968496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58184" y="425653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Filiais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55464" y="425653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58184" y="4540371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Suporte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55464" y="4540371"/>
            <a:ext cx="105156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Prioritário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58184" y="4828407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SLA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55464" y="4828407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8h uteis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58184" y="5116443"/>
            <a:ext cx="12344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Teste grátis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5464" y="5116443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21 dias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27648" y="1645920"/>
            <a:ext cx="2697480" cy="4279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8" name="Rounded Rectangle 47"/>
          <p:cNvSpPr/>
          <p:nvPr/>
        </p:nvSpPr>
        <p:spPr>
          <a:xfrm>
            <a:off x="6327648" y="1645920"/>
            <a:ext cx="2697480" cy="12801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9" name="TextBox 48"/>
          <p:cNvSpPr txBox="1"/>
          <p:nvPr/>
        </p:nvSpPr>
        <p:spPr>
          <a:xfrm>
            <a:off x="6601968" y="201168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2000" b="1" noProof="0" dirty="0">
                <a:solidFill>
                  <a:srgbClr val="F59E0B"/>
                </a:solidFill>
                <a:latin typeface="Segoe UI Semibold"/>
              </a:rPr>
              <a:t>Corporativo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1968" y="2468880"/>
            <a:ext cx="21488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050" b="0" noProof="0" dirty="0">
                <a:solidFill>
                  <a:srgbClr val="5B6B82"/>
                </a:solidFill>
                <a:latin typeface="Segoe UI"/>
              </a:rPr>
              <a:t>Pessoas e segurança no pacote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01968" y="3063240"/>
            <a:ext cx="21488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2700" b="1" noProof="0" dirty="0">
                <a:solidFill>
                  <a:srgbClr val="0F1B2E"/>
                </a:solidFill>
                <a:latin typeface="Segoe UI Semibold"/>
              </a:rPr>
              <a:t>R$ 5.990</a:t>
            </a:r>
            <a:r>
              <a:rPr lang="pt-BR" sz="1200" b="0" noProof="0" dirty="0">
                <a:solidFill>
                  <a:srgbClr val="5B6B82"/>
                </a:solidFill>
                <a:latin typeface="Segoe UI"/>
              </a:rPr>
              <a:t> /mês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01968" y="361188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050" b="1" noProof="0" dirty="0">
                <a:solidFill>
                  <a:srgbClr val="F59E0B"/>
                </a:solidFill>
                <a:latin typeface="Segoe UI"/>
              </a:rPr>
              <a:t>Setup R$ 5.000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01968" y="3977640"/>
            <a:ext cx="21488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4" name="TextBox 53"/>
          <p:cNvSpPr txBox="1"/>
          <p:nvPr/>
        </p:nvSpPr>
        <p:spPr>
          <a:xfrm>
            <a:off x="6601968" y="4133088"/>
            <a:ext cx="12344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Usuários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99248" y="413308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250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8" y="442112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Filiais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99248" y="442112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01968" y="473324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Suporte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99248" y="473324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Dedicado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01968" y="502128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SLA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99248" y="502128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4h uteis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01968" y="5309320"/>
            <a:ext cx="12344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Teste grátis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99248" y="530932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30 dias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171432" y="1645920"/>
            <a:ext cx="2697480" cy="4279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7" name="Rounded Rectangle 66"/>
          <p:cNvSpPr/>
          <p:nvPr/>
        </p:nvSpPr>
        <p:spPr>
          <a:xfrm>
            <a:off x="9171432" y="1645920"/>
            <a:ext cx="2697480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8" name="TextBox 67"/>
          <p:cNvSpPr txBox="1"/>
          <p:nvPr/>
        </p:nvSpPr>
        <p:spPr>
          <a:xfrm>
            <a:off x="9445752" y="201168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2000" b="1" noProof="0" dirty="0">
                <a:solidFill>
                  <a:srgbClr val="16A34A"/>
                </a:solidFill>
                <a:latin typeface="Segoe UI Semibold"/>
              </a:rPr>
              <a:t>Enterprise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45752" y="2468880"/>
            <a:ext cx="21488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050" b="0" noProof="0" dirty="0">
                <a:solidFill>
                  <a:srgbClr val="5B6B82"/>
                </a:solidFill>
                <a:latin typeface="Segoe UI"/>
              </a:rPr>
              <a:t>Plataforma completa, inc.. Premio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45752" y="3063240"/>
            <a:ext cx="21488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2700" b="1" noProof="0" dirty="0">
                <a:solidFill>
                  <a:srgbClr val="0F1B2E"/>
                </a:solidFill>
                <a:latin typeface="Segoe UI Semibold"/>
              </a:rPr>
              <a:t>R$ 12.990</a:t>
            </a:r>
            <a:r>
              <a:rPr lang="pt-BR" sz="1200" b="0" noProof="0" dirty="0">
                <a:solidFill>
                  <a:srgbClr val="5B6B82"/>
                </a:solidFill>
                <a:latin typeface="Segoe UI"/>
              </a:rPr>
              <a:t> /mês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45752" y="361188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050" b="1" noProof="0" dirty="0">
                <a:solidFill>
                  <a:srgbClr val="16A34A"/>
                </a:solidFill>
                <a:latin typeface="Segoe UI"/>
              </a:rPr>
              <a:t>Setup R$ 10.000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445752" y="3977640"/>
            <a:ext cx="21488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3" name="TextBox 72"/>
          <p:cNvSpPr txBox="1"/>
          <p:nvPr/>
        </p:nvSpPr>
        <p:spPr>
          <a:xfrm>
            <a:off x="9445752" y="4133088"/>
            <a:ext cx="12344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Usuários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43032" y="413308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Ilimitado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45752" y="4421124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Filiais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43032" y="442112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Ilimitado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45752" y="4695536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Suporte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43032" y="4695536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SLA customizado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45752" y="498357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SLA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43032" y="498357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Contrato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445752" y="5271608"/>
            <a:ext cx="12344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0" noProof="0" dirty="0">
                <a:solidFill>
                  <a:srgbClr val="5B6B82"/>
                </a:solidFill>
                <a:latin typeface="Segoe UI"/>
              </a:rPr>
              <a:t>Teste grátis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43032" y="527160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50" b="1" noProof="0" dirty="0">
                <a:solidFill>
                  <a:srgbClr val="0F1B2E"/>
                </a:solidFill>
                <a:latin typeface="Segoe UI"/>
              </a:rPr>
              <a:t>30 dias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6089904"/>
            <a:ext cx="109728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00" b="0" noProof="0" dirty="0">
                <a:solidFill>
                  <a:srgbClr val="5B6B82"/>
                </a:solidFill>
                <a:latin typeface="Segoe UI"/>
              </a:rPr>
              <a:t>Valores de referencia da plataforma. Plano Personalizado disponível sob contrato para necessidades especificas.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COMPARATIVO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200" b="1" noProof="0" dirty="0">
                <a:solidFill>
                  <a:srgbClr val="0F1B2E"/>
                </a:solidFill>
                <a:latin typeface="Segoe UI Semibold"/>
              </a:rPr>
              <a:t>Tabela de planos e valores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00" b="0" noProof="0" dirty="0">
                <a:solidFill>
                  <a:srgbClr val="5B6B82"/>
                </a:solidFill>
                <a:latin typeface="Segoe U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915187"/>
              </p:ext>
            </p:extLst>
          </p:nvPr>
        </p:nvGraphicFramePr>
        <p:xfrm>
          <a:off x="640080" y="1783080"/>
          <a:ext cx="10908792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endParaRPr lang="pt-BR" noProof="0" dirty="0"/>
                    </a:p>
                  </a:txBody>
                  <a:tcPr marL="128016" marT="27432" marB="27432" anchor="ctr"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Segoe UI Semibold"/>
                        </a:rPr>
                        <a:t>Essencial</a:t>
                      </a:r>
                    </a:p>
                  </a:txBody>
                  <a:tcPr marL="128016" marT="27432" marB="27432" anchor="ctr">
                    <a:solidFill>
                      <a:srgbClr val="2B5C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Segoe UI Semibold"/>
                        </a:rPr>
                        <a:t>Profissional</a:t>
                      </a:r>
                    </a:p>
                  </a:txBody>
                  <a:tcPr marL="128016" marT="27432" marB="27432" anchor="ctr"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Segoe UI Semibold"/>
                        </a:rPr>
                        <a:t>Corporativo</a:t>
                      </a:r>
                    </a:p>
                  </a:txBody>
                  <a:tcPr marL="128016" marT="27432" marB="27432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rgbClr val="FFFFFF"/>
                          </a:solidFill>
                          <a:latin typeface="Segoe UI Semibold"/>
                        </a:rPr>
                        <a:t>Enterprise</a:t>
                      </a:r>
                    </a:p>
                  </a:txBody>
                  <a:tcPr marL="128016" marT="27432" marB="27432" anchor="ctr"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pt-BR" sz="1200" b="1" noProof="0" dirty="0">
                          <a:solidFill>
                            <a:srgbClr val="0F1B2E"/>
                          </a:solidFill>
                          <a:latin typeface="Segoe UI"/>
                        </a:rPr>
                        <a:t>Mensalidade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noProof="0" dirty="0">
                          <a:solidFill>
                            <a:srgbClr val="2B5CE6"/>
                          </a:solidFill>
                          <a:latin typeface="Segoe UI"/>
                        </a:rPr>
                        <a:t>R$ 990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noProof="0" dirty="0">
                          <a:solidFill>
                            <a:srgbClr val="14B8A6"/>
                          </a:solidFill>
                          <a:latin typeface="Segoe UI"/>
                        </a:rPr>
                        <a:t>R$ 2.490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noProof="0" dirty="0">
                          <a:solidFill>
                            <a:srgbClr val="F59E0B"/>
                          </a:solidFill>
                          <a:latin typeface="Segoe UI"/>
                        </a:rPr>
                        <a:t>R$ 5.990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300" b="1" noProof="0" dirty="0">
                          <a:solidFill>
                            <a:srgbClr val="16A34A"/>
                          </a:solidFill>
                          <a:latin typeface="Segoe UI"/>
                        </a:rPr>
                        <a:t>R$ 12.990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pt-BR" sz="1200" b="1" noProof="0" dirty="0">
                          <a:solidFill>
                            <a:srgbClr val="0F1B2E"/>
                          </a:solidFill>
                          <a:latin typeface="Segoe UI"/>
                        </a:rPr>
                        <a:t>Implantação (setup)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noProof="0" dirty="0">
                          <a:solidFill>
                            <a:srgbClr val="2B5CE6"/>
                          </a:solidFill>
                          <a:latin typeface="Segoe UI"/>
                        </a:rPr>
                        <a:t>Grátis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noProof="0" dirty="0">
                          <a:solidFill>
                            <a:srgbClr val="14B8A6"/>
                          </a:solidFill>
                          <a:latin typeface="Segoe UI"/>
                        </a:rPr>
                        <a:t>R$ 2.500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noProof="0" dirty="0">
                          <a:solidFill>
                            <a:srgbClr val="F59E0B"/>
                          </a:solidFill>
                          <a:latin typeface="Segoe UI"/>
                        </a:rPr>
                        <a:t>R$ 5.000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1" noProof="0" dirty="0">
                          <a:solidFill>
                            <a:srgbClr val="16A34A"/>
                          </a:solidFill>
                          <a:latin typeface="Segoe UI"/>
                        </a:rPr>
                        <a:t>R$ 10.000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pt-BR" sz="1200" b="1" noProof="0" dirty="0">
                          <a:solidFill>
                            <a:srgbClr val="0F1B2E"/>
                          </a:solidFill>
                          <a:latin typeface="Segoe UI"/>
                        </a:rPr>
                        <a:t>Usuários inclusos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80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250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Ilimitado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pt-BR" sz="1200" b="1" noProof="0" dirty="0">
                          <a:solidFill>
                            <a:srgbClr val="0F1B2E"/>
                          </a:solidFill>
                          <a:latin typeface="Segoe UI"/>
                        </a:rPr>
                        <a:t>Filiais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Ilimitado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pt-BR" sz="1200" b="1" noProof="0" dirty="0">
                          <a:solidFill>
                            <a:srgbClr val="0F1B2E"/>
                          </a:solidFill>
                          <a:latin typeface="Segoe UI"/>
                        </a:rPr>
                        <a:t>Nível de suporte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Padrão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Prioritário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Dedicado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SLA Custom.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pt-BR" sz="1200" b="1" noProof="0" dirty="0">
                          <a:solidFill>
                            <a:srgbClr val="0F1B2E"/>
                          </a:solidFill>
                          <a:latin typeface="Segoe UI"/>
                        </a:rPr>
                        <a:t>SLA de atendimento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Prox. dia útil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8h uteis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4h uteis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Contrato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pt-BR" sz="1200" b="1" noProof="0" dirty="0">
                          <a:solidFill>
                            <a:srgbClr val="0F1B2E"/>
                          </a:solidFill>
                          <a:latin typeface="Segoe UI"/>
                        </a:rPr>
                        <a:t>Teste gratuito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14 dias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21 dias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30 dias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noProof="0" dirty="0">
                          <a:solidFill>
                            <a:srgbClr val="0F1B2E"/>
                          </a:solidFill>
                          <a:latin typeface="Segoe UI"/>
                        </a:rPr>
                        <a:t>30 dias</a:t>
                      </a:r>
                    </a:p>
                  </a:txBody>
                  <a:tcPr marL="128016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O QUE CADA PLANO INCLUI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200" b="1" noProof="0" dirty="0">
                <a:solidFill>
                  <a:srgbClr val="0F1B2E"/>
                </a:solidFill>
                <a:latin typeface="Segoe UI Semibold"/>
              </a:rPr>
              <a:t>Composição cumulativa dos 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00" b="0" noProof="0" dirty="0">
                <a:solidFill>
                  <a:srgbClr val="5B6B82"/>
                </a:solidFill>
                <a:latin typeface="Segoe U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318509"/>
              </p:ext>
            </p:extLst>
          </p:nvPr>
        </p:nvGraphicFramePr>
        <p:xfrm>
          <a:off x="640080" y="1783080"/>
          <a:ext cx="1090879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9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algn="l"/>
                      <a:r>
                        <a:rPr lang="pt-BR" sz="1250" b="1" noProof="0" dirty="0">
                          <a:solidFill>
                            <a:srgbClr val="FFFFFF"/>
                          </a:solidFill>
                          <a:latin typeface="Segoe UI Semibold"/>
                        </a:rPr>
                        <a:t>Modulo</a:t>
                      </a:r>
                    </a:p>
                  </a:txBody>
                  <a:tcPr marL="128016" anchor="ctr"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1" noProof="0" dirty="0">
                          <a:solidFill>
                            <a:srgbClr val="FFFFFF"/>
                          </a:solidFill>
                          <a:latin typeface="Segoe UI Semibold"/>
                        </a:rPr>
                        <a:t>Essencial</a:t>
                      </a:r>
                    </a:p>
                  </a:txBody>
                  <a:tcPr marL="128016" anchor="ctr">
                    <a:solidFill>
                      <a:srgbClr val="2B5C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1" noProof="0" dirty="0">
                          <a:solidFill>
                            <a:srgbClr val="FFFFFF"/>
                          </a:solidFill>
                          <a:latin typeface="Segoe UI Semibold"/>
                        </a:rPr>
                        <a:t>Profissional</a:t>
                      </a:r>
                    </a:p>
                  </a:txBody>
                  <a:tcPr marL="128016" anchor="ctr"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1" noProof="0" dirty="0">
                          <a:solidFill>
                            <a:srgbClr val="FFFFFF"/>
                          </a:solidFill>
                          <a:latin typeface="Segoe UI Semibold"/>
                        </a:rPr>
                        <a:t>Corporativo</a:t>
                      </a:r>
                    </a:p>
                  </a:txBody>
                  <a:tcPr marL="128016"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50" b="1" noProof="0" dirty="0">
                          <a:solidFill>
                            <a:srgbClr val="FFFFFF"/>
                          </a:solidFill>
                          <a:latin typeface="Segoe UI Semibold"/>
                        </a:rPr>
                        <a:t>Enterprise</a:t>
                      </a:r>
                    </a:p>
                  </a:txBody>
                  <a:tcPr marL="128016" anchor="ctr"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F1B2E"/>
                          </a:solidFill>
                          <a:latin typeface="Segoe UI"/>
                        </a:rPr>
                        <a:t>Meu Dia, Tarefas e Administração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2B5CE6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14B8A6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F59E0B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16A34A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F1B2E"/>
                          </a:solidFill>
                          <a:latin typeface="Segoe UI"/>
                        </a:rPr>
                        <a:t>Gestão a Vista (estratégia)</a:t>
                      </a:r>
                    </a:p>
                  </a:txBody>
                  <a:tcPr marL="128016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2B5CE6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14B8A6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F59E0B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16A34A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F1B2E"/>
                          </a:solidFill>
                          <a:latin typeface="Segoe UI"/>
                        </a:rPr>
                        <a:t>Qualidade e Compliance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B6C1D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14B8A6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F59E0B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16A34A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F1B2E"/>
                          </a:solidFill>
                          <a:latin typeface="Segoe UI"/>
                        </a:rPr>
                        <a:t>Comunicação</a:t>
                      </a:r>
                    </a:p>
                  </a:txBody>
                  <a:tcPr marL="128016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B6C1D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14B8A6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F59E0B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16A34A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F1B2E"/>
                          </a:solidFill>
                          <a:latin typeface="Segoe UI"/>
                        </a:rPr>
                        <a:t>Cargos e Salários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B6C1D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B6C1D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F59E0B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16A34A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F1B2E"/>
                          </a:solidFill>
                          <a:latin typeface="Segoe UI"/>
                        </a:rPr>
                        <a:t>Segurança dos Alimentos</a:t>
                      </a:r>
                    </a:p>
                  </a:txBody>
                  <a:tcPr marL="128016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B6C1D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B6C1D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F59E0B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16A34A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F1B2E"/>
                          </a:solidFill>
                          <a:latin typeface="Segoe UI"/>
                        </a:rPr>
                        <a:t>Segurança Patrimonial</a:t>
                      </a:r>
                    </a:p>
                  </a:txBody>
                  <a:tcPr marL="1280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B6C1D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B6C1D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F59E0B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16A34A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r>
                        <a:rPr lang="pt-BR" sz="1150" b="1" noProof="0" dirty="0">
                          <a:solidFill>
                            <a:srgbClr val="0F1B2E"/>
                          </a:solidFill>
                          <a:latin typeface="Segoe UI"/>
                        </a:rPr>
                        <a:t>Gestão de Premio</a:t>
                      </a:r>
                    </a:p>
                  </a:txBody>
                  <a:tcPr marL="128016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B6C1D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B6C1D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noProof="0" dirty="0">
                          <a:solidFill>
                            <a:srgbClr val="B6C1D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1" noProof="0" dirty="0">
                          <a:solidFill>
                            <a:srgbClr val="16A34A"/>
                          </a:solidFill>
                          <a:latin typeface="Segoe UI"/>
                        </a:rPr>
                        <a:t>incluso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89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200" b="1" noProof="0" dirty="0">
                <a:solidFill>
                  <a:srgbClr val="14B8A6"/>
                </a:solidFill>
                <a:latin typeface="Segoe UI"/>
              </a:rPr>
              <a:t>CONFIANCA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7899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3200" b="1" noProof="0" dirty="0">
                <a:solidFill>
                  <a:srgbClr val="0F1B2E"/>
                </a:solidFill>
                <a:latin typeface="Segoe UI Semibold"/>
              </a:rPr>
              <a:t>Segurança, conformidade e infraestrutura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446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900" b="0" noProof="0" dirty="0">
                <a:solidFill>
                  <a:srgbClr val="5B6B82"/>
                </a:solidFill>
                <a:latin typeface="Segoe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0584" cy="192024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Oval 8"/>
          <p:cNvSpPr/>
          <p:nvPr/>
        </p:nvSpPr>
        <p:spPr>
          <a:xfrm>
            <a:off x="914400" y="2057400"/>
            <a:ext cx="365760" cy="365760"/>
          </a:xfrm>
          <a:prstGeom prst="ellipse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noProof="0" dirty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075688"/>
            <a:ext cx="2514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0F1B2E"/>
                </a:solidFill>
                <a:latin typeface="Segoe UI Semibold"/>
              </a:rPr>
              <a:t>Governança de acesso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3017520" cy="3802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50" b="0" noProof="0" dirty="0">
                <a:solidFill>
                  <a:srgbClr val="5B6B82"/>
                </a:solidFill>
                <a:latin typeface="Segoe UI"/>
              </a:rPr>
              <a:t>RBAC com perfis, permissões granulares e escopo por empresa, filial e área.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7830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Rectangle 13"/>
          <p:cNvSpPr/>
          <p:nvPr/>
        </p:nvSpPr>
        <p:spPr>
          <a:xfrm>
            <a:off x="4334256" y="1783080"/>
            <a:ext cx="100584" cy="19202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Oval 14"/>
          <p:cNvSpPr/>
          <p:nvPr/>
        </p:nvSpPr>
        <p:spPr>
          <a:xfrm>
            <a:off x="4608576" y="2057400"/>
            <a:ext cx="365760" cy="3657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4608576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noProof="0" dirty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075688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0F1B2E"/>
                </a:solidFill>
                <a:latin typeface="Segoe UI Semibold"/>
              </a:rPr>
              <a:t>Multiempresa nativa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97480"/>
            <a:ext cx="3017520" cy="3802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50" b="0" noProof="0" dirty="0">
                <a:solidFill>
                  <a:srgbClr val="5B6B82"/>
                </a:solidFill>
                <a:latin typeface="Segoe UI"/>
              </a:rPr>
              <a:t>Isolamento de dados por empresa; subdomínio e marca próprios por cliente.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2" y="17830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ctangle 19"/>
          <p:cNvSpPr/>
          <p:nvPr/>
        </p:nvSpPr>
        <p:spPr>
          <a:xfrm>
            <a:off x="8028432" y="1783080"/>
            <a:ext cx="100584" cy="192024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Oval 20"/>
          <p:cNvSpPr/>
          <p:nvPr/>
        </p:nvSpPr>
        <p:spPr>
          <a:xfrm>
            <a:off x="8302752" y="2057400"/>
            <a:ext cx="365760" cy="365760"/>
          </a:xfrm>
          <a:prstGeom prst="ellipse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8302752" y="20574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noProof="0" dirty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2075688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0F1B2E"/>
                </a:solidFill>
                <a:latin typeface="Segoe UI Semibold"/>
              </a:rPr>
              <a:t>Trilha de auditoria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69748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50" b="0" noProof="0" dirty="0">
                <a:solidFill>
                  <a:srgbClr val="5B6B82"/>
                </a:solidFill>
                <a:latin typeface="Segoe UI"/>
              </a:rPr>
              <a:t>Registro de quem fez o que e quando, em toda a plataforma.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04488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6" name="Rectangle 25"/>
          <p:cNvSpPr/>
          <p:nvPr/>
        </p:nvSpPr>
        <p:spPr>
          <a:xfrm>
            <a:off x="640080" y="3904488"/>
            <a:ext cx="100584" cy="1920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Oval 26"/>
          <p:cNvSpPr/>
          <p:nvPr/>
        </p:nvSpPr>
        <p:spPr>
          <a:xfrm>
            <a:off x="914400" y="4178808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914400" y="41788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noProof="0" dirty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4197096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0F1B2E"/>
                </a:solidFill>
                <a:latin typeface="Segoe UI Semibold"/>
              </a:rPr>
              <a:t>LGPD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818888"/>
            <a:ext cx="3017520" cy="3802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50" b="0" noProof="0" dirty="0">
                <a:solidFill>
                  <a:srgbClr val="5B6B82"/>
                </a:solidFill>
                <a:latin typeface="Segoe UI"/>
              </a:rPr>
              <a:t>Modulo dedicado: RoPA, superadores, incidentes e área do DPO.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6" y="3904488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2" name="Rectangle 31"/>
          <p:cNvSpPr/>
          <p:nvPr/>
        </p:nvSpPr>
        <p:spPr>
          <a:xfrm>
            <a:off x="4334256" y="3904488"/>
            <a:ext cx="100584" cy="1920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3" name="Oval 32"/>
          <p:cNvSpPr/>
          <p:nvPr/>
        </p:nvSpPr>
        <p:spPr>
          <a:xfrm>
            <a:off x="4608576" y="4178808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4608576" y="41788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noProof="0" dirty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8928" y="4197096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0F1B2E"/>
                </a:solidFill>
                <a:latin typeface="Segoe UI Semibold"/>
              </a:rPr>
              <a:t>Infraestrutura gerenciada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8576" y="4818888"/>
            <a:ext cx="3017520" cy="3802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50" b="0" noProof="0" dirty="0">
                <a:solidFill>
                  <a:srgbClr val="5B6B82"/>
                </a:solidFill>
                <a:latin typeface="Segoe UI"/>
              </a:rPr>
              <a:t>PostgreSQL gerenciado, backups, TLS e observa ilidade com logs estruturados.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28432" y="3904488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0B1E3F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8" name="Rectangle 37"/>
          <p:cNvSpPr/>
          <p:nvPr/>
        </p:nvSpPr>
        <p:spPr>
          <a:xfrm>
            <a:off x="8028432" y="3904488"/>
            <a:ext cx="100584" cy="192024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9" name="Oval 38"/>
          <p:cNvSpPr/>
          <p:nvPr/>
        </p:nvSpPr>
        <p:spPr>
          <a:xfrm>
            <a:off x="8302752" y="4178808"/>
            <a:ext cx="365760" cy="365760"/>
          </a:xfrm>
          <a:prstGeom prst="ellipse">
            <a:avLst/>
          </a:prstGeom>
          <a:solidFill>
            <a:srgbClr val="2B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0" name="TextBox 39"/>
          <p:cNvSpPr txBox="1"/>
          <p:nvPr/>
        </p:nvSpPr>
        <p:spPr>
          <a:xfrm>
            <a:off x="8302752" y="41788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noProof="0" dirty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33104" y="4197096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0F1B2E"/>
                </a:solidFill>
                <a:latin typeface="Segoe UI Semibold"/>
              </a:rPr>
              <a:t>Disponibilidade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2" y="4818888"/>
            <a:ext cx="3017520" cy="3802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50" b="0" noProof="0" dirty="0">
                <a:solidFill>
                  <a:srgbClr val="5B6B82"/>
                </a:solidFill>
                <a:latin typeface="Segoe UI"/>
              </a:rPr>
              <a:t>SLA por plano, do próximo dia útil ao contrato dedicado Enterprise.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1633"/>
              </a:gs>
              <a:gs pos="100000">
                <a:srgbClr val="142E63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Oval 3"/>
          <p:cNvSpPr/>
          <p:nvPr/>
        </p:nvSpPr>
        <p:spPr>
          <a:xfrm>
            <a:off x="9326880" y="822960"/>
            <a:ext cx="2560320" cy="2560320"/>
          </a:xfrm>
          <a:prstGeom prst="ellipse">
            <a:avLst/>
          </a:prstGeom>
          <a:noFill/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14B8A6"/>
                </a:solidFill>
                <a:latin typeface="Segoe UI"/>
              </a:rPr>
              <a:t>VAMOS COMECAR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058400" cy="1092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4400" b="1" noProof="0" dirty="0">
                <a:solidFill>
                  <a:srgbClr val="FFFFFF"/>
                </a:solidFill>
                <a:latin typeface="Segoe UI Semibold"/>
              </a:rPr>
              <a:t>Experimente o Gestão 360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2200" b="0" noProof="0" dirty="0">
                <a:solidFill>
                  <a:srgbClr val="C7D4E6"/>
                </a:solidFill>
                <a:latin typeface="Segoe UI Light"/>
              </a:rPr>
              <a:t>com teste gratuito de ate 30 dias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576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02A54"/>
          </a:solidFill>
          <a:ln w="9525">
            <a:solidFill>
              <a:srgbClr val="2A4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Oval 7"/>
          <p:cNvSpPr/>
          <p:nvPr/>
        </p:nvSpPr>
        <p:spPr>
          <a:xfrm>
            <a:off x="1143000" y="393192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143000" y="3931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2000" b="1" noProof="0" dirty="0">
                <a:solidFill>
                  <a:srgbClr val="0B1E3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400507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noProof="0" dirty="0">
                <a:solidFill>
                  <a:srgbClr val="FFFFFF"/>
                </a:solidFill>
                <a:latin typeface="Segoe UI Semibold"/>
              </a:rPr>
              <a:t>Diagnostico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4590288"/>
            <a:ext cx="2834640" cy="374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50" b="0" noProof="0" dirty="0">
                <a:solidFill>
                  <a:srgbClr val="C7D4E6"/>
                </a:solidFill>
                <a:latin typeface="Segoe UI"/>
              </a:rPr>
              <a:t>Entendemos sua operação e os módulos que geram valor primeiro.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6576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02A54"/>
          </a:solidFill>
          <a:ln w="9525">
            <a:solidFill>
              <a:srgbClr val="2A4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Oval 12"/>
          <p:cNvSpPr/>
          <p:nvPr/>
        </p:nvSpPr>
        <p:spPr>
          <a:xfrm>
            <a:off x="4709160" y="393192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4709160" y="3931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2000" b="1" noProof="0" dirty="0">
                <a:solidFill>
                  <a:srgbClr val="0B1E3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005072"/>
            <a:ext cx="22860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noProof="0" dirty="0">
                <a:solidFill>
                  <a:srgbClr val="FFFFFF"/>
                </a:solidFill>
                <a:latin typeface="Segoe UI Semibold"/>
              </a:rPr>
              <a:t>Ativação guiada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4590288"/>
            <a:ext cx="2834640" cy="374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50" b="0" noProof="0" dirty="0">
                <a:solidFill>
                  <a:srgbClr val="C7D4E6"/>
                </a:solidFill>
                <a:latin typeface="Segoe UI"/>
              </a:rPr>
              <a:t>Implantação com dados reais e treinamento das equipes.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6576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02A54"/>
          </a:solidFill>
          <a:ln w="9525">
            <a:solidFill>
              <a:srgbClr val="2A4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Oval 17"/>
          <p:cNvSpPr/>
          <p:nvPr/>
        </p:nvSpPr>
        <p:spPr>
          <a:xfrm>
            <a:off x="8275320" y="393192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8275320" y="39319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2000" b="1" noProof="0" dirty="0">
                <a:solidFill>
                  <a:srgbClr val="0B1E3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4005072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500" b="1" noProof="0" dirty="0">
                <a:solidFill>
                  <a:srgbClr val="FFFFFF"/>
                </a:solidFill>
                <a:latin typeface="Segoe UI Semibold"/>
              </a:rPr>
              <a:t>Escala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4590288"/>
            <a:ext cx="2834640" cy="374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150" b="0" noProof="0" dirty="0">
                <a:solidFill>
                  <a:srgbClr val="C7D4E6"/>
                </a:solidFill>
                <a:latin typeface="Segoe UI"/>
              </a:rPr>
              <a:t>Evolua de plano conforme novas áreas entram na plataforma.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806440"/>
            <a:ext cx="10424160" cy="6400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868680" y="6018758"/>
            <a:ext cx="1042416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pt-BR" sz="1400" b="1" noProof="0" dirty="0">
                <a:solidFill>
                  <a:srgbClr val="0B1E3F"/>
                </a:solidFill>
                <a:latin typeface="Segoe UI"/>
              </a:rPr>
              <a:t>GESTAO 360</a:t>
            </a:r>
            <a:r>
              <a:rPr lang="pt-BR" sz="1300" b="1" noProof="0" dirty="0">
                <a:solidFill>
                  <a:srgbClr val="0B1E3F"/>
                </a:solidFill>
                <a:latin typeface="Segoe UI"/>
              </a:rPr>
              <a:t>      gestao360.org      ·      contato@gestao360.org      ·      Solicite uma demonstração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1474</Words>
  <Application>Microsoft Office PowerPoint</Application>
  <PresentationFormat>Widescreen</PresentationFormat>
  <Paragraphs>364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Arial</vt:lpstr>
      <vt:lpstr>Calibri</vt:lpstr>
      <vt:lpstr>Segoe UI</vt:lpstr>
      <vt:lpstr>Segoe UI Light</vt:lpstr>
      <vt:lpstr>Segoe UI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Aldemir Fidelis</dc:creator>
  <cp:keywords/>
  <dc:description>generated using python-pptx</dc:description>
  <cp:lastModifiedBy>Aldemir Fidelis</cp:lastModifiedBy>
  <cp:revision>6</cp:revision>
  <dcterms:created xsi:type="dcterms:W3CDTF">2013-01-27T09:14:16Z</dcterms:created>
  <dcterms:modified xsi:type="dcterms:W3CDTF">2026-07-09T01:55:05Z</dcterms:modified>
  <cp:category/>
</cp:coreProperties>
</file>